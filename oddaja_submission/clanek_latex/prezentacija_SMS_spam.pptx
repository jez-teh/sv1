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FEB55-B31B-481D-926A-8B798955B6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AA9D90-4785-453E-9C4C-B1925D78B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9322C43-A262-498C-A04A-17DFAEE2D8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074E761-68A3-495C-9937-25F879EDD6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5EF4E9C-D232-43C2-B01D-1BCD712B04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BD4590F-D7A6-46D1-B1A1-18C5E96B11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83224B1-88EF-49E5-87D4-3548F9527D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055AFB2-9463-42DC-96B7-5BF1BCE76F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780B556-4F40-4AE8-A084-EAEC3A5C75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082BF98-5C86-4B8D-9762-2C58DA98FB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6612761-5121-4314-BF15-4BAB58FF50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53B64F-EFD6-4282-A423-2F9808D13B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43EAB0-9466-4B4D-A8C1-6D66C28864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AF0F5D-6604-4D53-8B10-79E2197C45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EB541E-5380-4A9B-81D2-471436D954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CBAEB3-EF66-46BA-B47F-801277C1EC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0DA50C1-E24B-408C-AB03-756C676D1F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9EED36-B5E3-4013-B29C-01D4E5FC88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C059E1-68A8-40A4-A7BC-E67E720D37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709915-239E-4E76-89E1-41CFE1E2EB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AD4EA3E-9A37-49D2-A7E3-C2FF69E67E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A6CCDA-48F5-4C64-A874-82A0CFC21C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640080" y="594360"/>
            <a:ext cx="10908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640080" y="1234440"/>
            <a:ext cx="10908000" cy="292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914400" y="1508760"/>
            <a:ext cx="10359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11827"/>
                </a:solidFill>
                <a:latin typeface="Calibri"/>
              </a:rPr>
              <a:t>Klasifikacija neželenih SMS sporočil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914400" y="2514600"/>
            <a:ext cx="10359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374151"/>
                </a:solidFill>
                <a:latin typeface="Calibri"/>
              </a:rPr>
              <a:t>Večjezični transformatorski modeli: mBERT in TinyBERT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914400" y="3337560"/>
            <a:ext cx="1035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David Krajnc • David Lipavec • Matija Pajenk • Andraž Šošterič • Tadej Teršek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914400" y="3794760"/>
            <a:ext cx="10359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74151"/>
                </a:solidFill>
                <a:latin typeface="Calibri"/>
              </a:rPr>
              <a:t>FERI, Univerza v Mariboru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Zakaj je detekcija SMS spama pomembna?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914400" y="143424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5,28 milijarde uporabnikov mobilnih telefonov (2025)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914400" y="194760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~25 milijard SMS sporočil dnevno — velik del je spam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38"/>
          <p:cNvSpPr/>
          <p:nvPr/>
        </p:nvSpPr>
        <p:spPr>
          <a:xfrm>
            <a:off x="914400" y="251460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Prodajalci in prevaranti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1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Razlika od drugih vrst spama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27"/>
          <p:cNvSpPr/>
          <p:nvPr/>
        </p:nvSpPr>
        <p:spPr>
          <a:xfrm>
            <a:off x="685800" y="137160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d97706"/>
                </a:solidFill>
                <a:latin typeface="Calibri"/>
              </a:rPr>
              <a:t>SMS spam se razlikuje od e-poštnega spama: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29"/>
          <p:cNvSpPr/>
          <p:nvPr/>
        </p:nvSpPr>
        <p:spPr>
          <a:xfrm>
            <a:off x="1143000" y="1828800"/>
            <a:ext cx="10130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Bistveno krajša sporočila → manj konteksta za model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1"/>
          <p:cNvSpPr/>
          <p:nvPr/>
        </p:nvSpPr>
        <p:spPr>
          <a:xfrm>
            <a:off x="1143000" y="2286000"/>
            <a:ext cx="10130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Neformalni jezik, kratice, emotikoni, namerne napake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33"/>
          <p:cNvSpPr/>
          <p:nvPr/>
        </p:nvSpPr>
        <p:spPr>
          <a:xfrm>
            <a:off x="1143000" y="3200400"/>
            <a:ext cx="10130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Mobilno-specifične lastnosti (tel. številke, čas pošiljanja)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6"/>
          <p:cNvSpPr/>
          <p:nvPr/>
        </p:nvSpPr>
        <p:spPr>
          <a:xfrm>
            <a:off x="685800" y="354924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d97706"/>
                </a:solidFill>
                <a:latin typeface="Calibri"/>
              </a:rPr>
              <a:t>Modeli za e-pošto niso neposredno prenosljivi na SMS domeno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37"/>
          <p:cNvSpPr/>
          <p:nvPr/>
        </p:nvSpPr>
        <p:spPr>
          <a:xfrm>
            <a:off x="822960" y="480060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3"/>
          <p:cNvSpPr/>
          <p:nvPr/>
        </p:nvSpPr>
        <p:spPr>
          <a:xfrm>
            <a:off x="1143000" y="2743200"/>
            <a:ext cx="10130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Manj metapodatkov (zadeva, struktura...)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Pregled sorodnih del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822960" y="141732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Zgodnejši pristopi – ne-vsebinske lastnosti (metapodatki, SVM)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822960" y="194760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Spam Transformer: mehanizem pozornosti za kratka besedila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822960" y="247788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mBERT– prednaučen na 100+ jezikih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822960" y="300852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d97706"/>
                </a:solidFill>
                <a:latin typeface="Calibri"/>
              </a:rPr>
              <a:t>zero-shot prenos EN → hindijščina/telugu/bengalščina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822960" y="353880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XLM-R, mBERT – medjezikovni prenos znanja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822960" y="406908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TinyBERT – destilacija znanja, 15M param., mobilne naprave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822960" y="459936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TYMBERT – kvantiziran model, samo 27,4 MB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822960" y="5129640"/>
            <a:ext cx="10542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111827"/>
                </a:solidFill>
                <a:latin typeface="Calibri"/>
              </a:rPr>
              <a:t>Naša razširitev: dodamo slovenščino in TinyBERT v primerjavo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Naša ideja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685800" y="1371600"/>
            <a:ext cx="5316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685800" y="1371600"/>
            <a:ext cx="10908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850320" y="1444680"/>
            <a:ext cx="509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Pristop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685800" y="196596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Replikacija in nadgradnja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685800" y="251460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mBERT (110M param.) – splošna raba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685800" y="306324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TinyBERT (15M param.) – mobilne naprave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85800" y="361188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Jezikovni par: angleščina → slovenščina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685800" y="416052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Zero-shot: brez slovenskih učnih podatkov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685800" y="470916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Few-shot: prilagoditev z majhno učno množico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13"/>
          <p:cNvSpPr/>
          <p:nvPr/>
        </p:nvSpPr>
        <p:spPr>
          <a:xfrm>
            <a:off x="6185880" y="1371600"/>
            <a:ext cx="5316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ectangle 14"/>
          <p:cNvSpPr/>
          <p:nvPr/>
        </p:nvSpPr>
        <p:spPr>
          <a:xfrm>
            <a:off x="6185880" y="1371600"/>
            <a:ext cx="10908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6350400" y="1444680"/>
            <a:ext cx="509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Motivacija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6185880" y="196596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Zasebnost: lokalna obdelava na telefonu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7"/>
          <p:cNvSpPr/>
          <p:nvPr/>
        </p:nvSpPr>
        <p:spPr>
          <a:xfrm>
            <a:off x="6185880" y="251460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Odzivnost brez internetne povezave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8"/>
          <p:cNvSpPr/>
          <p:nvPr/>
        </p:nvSpPr>
        <p:spPr>
          <a:xfrm>
            <a:off x="6185880" y="306324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Energetska učinkovitost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9"/>
          <p:cNvSpPr/>
          <p:nvPr/>
        </p:nvSpPr>
        <p:spPr>
          <a:xfrm>
            <a:off x="6185880" y="3611880"/>
            <a:ext cx="53164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0"/>
          <p:cNvSpPr/>
          <p:nvPr/>
        </p:nvSpPr>
        <p:spPr>
          <a:xfrm>
            <a:off x="6172200" y="361188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Manj zastopani jeziki (SL)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1"/>
          <p:cNvSpPr/>
          <p:nvPr/>
        </p:nvSpPr>
        <p:spPr>
          <a:xfrm>
            <a:off x="6172200" y="411480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Kompromis: zmogljivost vs. velikost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Metodologija: podatki in postavitev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822960" y="1417320"/>
            <a:ext cx="105422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100" spc="-1" strike="noStrike">
                <a:solidFill>
                  <a:srgbClr val="d97706"/>
                </a:solidFill>
                <a:latin typeface="Calibri"/>
              </a:rPr>
              <a:t>Nabori podatkov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1234440" y="1947600"/>
            <a:ext cx="1013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Angleški nabor: 55 404 SMS sporočil (ham / spam), javno dostopen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1234440" y="2368440"/>
            <a:ext cx="1013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Slovenski nabor: strojni prevod + ročno označevanje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1234440" y="2788920"/>
            <a:ext cx="1013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Delitev: 80 % učna | 10 % validacijska | 10 % testna (seed=42)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822960" y="3209400"/>
            <a:ext cx="105422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100" spc="-1" strike="noStrike">
                <a:solidFill>
                  <a:srgbClr val="d97706"/>
                </a:solidFill>
                <a:latin typeface="Calibri"/>
              </a:rPr>
              <a:t>Eksperimentalni scenariji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1234440" y="3740040"/>
            <a:ext cx="1013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EN → EN: referenčna zgornja meja zmogljivosti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1234440" y="4160520"/>
            <a:ext cx="1013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EN → SL (zero-shot): model naučen samo na angleščini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1234440" y="4581000"/>
            <a:ext cx="10130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EN → SL + k (few-shot): k ∈ {10, 50, 100, 200} slov. primerov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2"/>
          <p:cNvSpPr/>
          <p:nvPr/>
        </p:nvSpPr>
        <p:spPr>
          <a:xfrm>
            <a:off x="822960" y="5001840"/>
            <a:ext cx="1054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Hiperparametri: Hitrost učenja = 2×10⁻⁵, 3 epohe, batch = 4 (8 pri few-shot)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822960" y="5422320"/>
            <a:ext cx="1054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Metrike: točnost, natančnost, priklic, F1 (pozitivni razred = spam)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0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5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Rezultati: Isti jezik (EN → EN)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16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ectangle 18"/>
          <p:cNvSpPr/>
          <p:nvPr/>
        </p:nvSpPr>
        <p:spPr>
          <a:xfrm>
            <a:off x="640080" y="1234440"/>
            <a:ext cx="10725120" cy="187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20"/>
          <p:cNvSpPr/>
          <p:nvPr/>
        </p:nvSpPr>
        <p:spPr>
          <a:xfrm>
            <a:off x="82296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39"/>
          <p:cNvSpPr/>
          <p:nvPr/>
        </p:nvSpPr>
        <p:spPr>
          <a:xfrm>
            <a:off x="86868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22"/>
          <p:cNvSpPr/>
          <p:nvPr/>
        </p:nvSpPr>
        <p:spPr>
          <a:xfrm>
            <a:off x="289512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40"/>
          <p:cNvSpPr/>
          <p:nvPr/>
        </p:nvSpPr>
        <p:spPr>
          <a:xfrm>
            <a:off x="294084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Točnost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24"/>
          <p:cNvSpPr/>
          <p:nvPr/>
        </p:nvSpPr>
        <p:spPr>
          <a:xfrm>
            <a:off x="496692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41"/>
          <p:cNvSpPr/>
          <p:nvPr/>
        </p:nvSpPr>
        <p:spPr>
          <a:xfrm>
            <a:off x="501264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Natančnost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26"/>
          <p:cNvSpPr/>
          <p:nvPr/>
        </p:nvSpPr>
        <p:spPr>
          <a:xfrm>
            <a:off x="703908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42"/>
          <p:cNvSpPr/>
          <p:nvPr/>
        </p:nvSpPr>
        <p:spPr>
          <a:xfrm>
            <a:off x="708480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Priklic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28"/>
          <p:cNvSpPr/>
          <p:nvPr/>
        </p:nvSpPr>
        <p:spPr>
          <a:xfrm>
            <a:off x="911124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43"/>
          <p:cNvSpPr/>
          <p:nvPr/>
        </p:nvSpPr>
        <p:spPr>
          <a:xfrm>
            <a:off x="915696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F1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30"/>
          <p:cNvSpPr/>
          <p:nvPr/>
        </p:nvSpPr>
        <p:spPr>
          <a:xfrm>
            <a:off x="82296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44"/>
          <p:cNvSpPr/>
          <p:nvPr/>
        </p:nvSpPr>
        <p:spPr>
          <a:xfrm>
            <a:off x="86868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mBERT (110M)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32"/>
          <p:cNvSpPr/>
          <p:nvPr/>
        </p:nvSpPr>
        <p:spPr>
          <a:xfrm>
            <a:off x="289512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45"/>
          <p:cNvSpPr/>
          <p:nvPr/>
        </p:nvSpPr>
        <p:spPr>
          <a:xfrm>
            <a:off x="294084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0,9664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34"/>
          <p:cNvSpPr/>
          <p:nvPr/>
        </p:nvSpPr>
        <p:spPr>
          <a:xfrm>
            <a:off x="496692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46"/>
          <p:cNvSpPr/>
          <p:nvPr/>
        </p:nvSpPr>
        <p:spPr>
          <a:xfrm>
            <a:off x="501264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0,9575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35"/>
          <p:cNvSpPr/>
          <p:nvPr/>
        </p:nvSpPr>
        <p:spPr>
          <a:xfrm>
            <a:off x="703908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47"/>
          <p:cNvSpPr/>
          <p:nvPr/>
        </p:nvSpPr>
        <p:spPr>
          <a:xfrm>
            <a:off x="708480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0,9520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36"/>
          <p:cNvSpPr/>
          <p:nvPr/>
        </p:nvSpPr>
        <p:spPr>
          <a:xfrm>
            <a:off x="911124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48"/>
          <p:cNvSpPr/>
          <p:nvPr/>
        </p:nvSpPr>
        <p:spPr>
          <a:xfrm>
            <a:off x="915696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0,9547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37"/>
          <p:cNvSpPr/>
          <p:nvPr/>
        </p:nvSpPr>
        <p:spPr>
          <a:xfrm>
            <a:off x="82296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49"/>
          <p:cNvSpPr/>
          <p:nvPr/>
        </p:nvSpPr>
        <p:spPr>
          <a:xfrm>
            <a:off x="86868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TinyBERT (15M)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38"/>
          <p:cNvSpPr/>
          <p:nvPr/>
        </p:nvSpPr>
        <p:spPr>
          <a:xfrm>
            <a:off x="289512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50"/>
          <p:cNvSpPr/>
          <p:nvPr/>
        </p:nvSpPr>
        <p:spPr>
          <a:xfrm>
            <a:off x="294084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0,9778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39"/>
          <p:cNvSpPr/>
          <p:nvPr/>
        </p:nvSpPr>
        <p:spPr>
          <a:xfrm>
            <a:off x="496692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51"/>
          <p:cNvSpPr/>
          <p:nvPr/>
        </p:nvSpPr>
        <p:spPr>
          <a:xfrm>
            <a:off x="501264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0,9614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40"/>
          <p:cNvSpPr/>
          <p:nvPr/>
        </p:nvSpPr>
        <p:spPr>
          <a:xfrm>
            <a:off x="703908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52"/>
          <p:cNvSpPr/>
          <p:nvPr/>
        </p:nvSpPr>
        <p:spPr>
          <a:xfrm>
            <a:off x="708480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0,9796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41"/>
          <p:cNvSpPr/>
          <p:nvPr/>
        </p:nvSpPr>
        <p:spPr>
          <a:xfrm>
            <a:off x="911124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53"/>
          <p:cNvSpPr/>
          <p:nvPr/>
        </p:nvSpPr>
        <p:spPr>
          <a:xfrm>
            <a:off x="915696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0,970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Rezultati: Zero-shot (EN → SL)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640080" y="1234440"/>
            <a:ext cx="10725120" cy="187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5"/>
          <p:cNvSpPr/>
          <p:nvPr/>
        </p:nvSpPr>
        <p:spPr>
          <a:xfrm>
            <a:off x="82296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86868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7"/>
          <p:cNvSpPr/>
          <p:nvPr/>
        </p:nvSpPr>
        <p:spPr>
          <a:xfrm>
            <a:off x="289512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294084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Točnost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9"/>
          <p:cNvSpPr/>
          <p:nvPr/>
        </p:nvSpPr>
        <p:spPr>
          <a:xfrm>
            <a:off x="496692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501264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Natančnost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703908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708480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Priklic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13"/>
          <p:cNvSpPr/>
          <p:nvPr/>
        </p:nvSpPr>
        <p:spPr>
          <a:xfrm>
            <a:off x="9111240" y="1417320"/>
            <a:ext cx="207144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9156960" y="1472040"/>
            <a:ext cx="198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F1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15"/>
          <p:cNvSpPr/>
          <p:nvPr/>
        </p:nvSpPr>
        <p:spPr>
          <a:xfrm>
            <a:off x="82296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86868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mBERT (110M)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17"/>
          <p:cNvSpPr/>
          <p:nvPr/>
        </p:nvSpPr>
        <p:spPr>
          <a:xfrm>
            <a:off x="289512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294084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0,9664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19"/>
          <p:cNvSpPr/>
          <p:nvPr/>
        </p:nvSpPr>
        <p:spPr>
          <a:xfrm>
            <a:off x="496692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20"/>
          <p:cNvSpPr/>
          <p:nvPr/>
        </p:nvSpPr>
        <p:spPr>
          <a:xfrm>
            <a:off x="501264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0,9575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21"/>
          <p:cNvSpPr/>
          <p:nvPr/>
        </p:nvSpPr>
        <p:spPr>
          <a:xfrm>
            <a:off x="703908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22"/>
          <p:cNvSpPr/>
          <p:nvPr/>
        </p:nvSpPr>
        <p:spPr>
          <a:xfrm>
            <a:off x="708480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0,9520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23"/>
          <p:cNvSpPr/>
          <p:nvPr/>
        </p:nvSpPr>
        <p:spPr>
          <a:xfrm>
            <a:off x="9111240" y="1920240"/>
            <a:ext cx="2071440" cy="5022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4"/>
          <p:cNvSpPr/>
          <p:nvPr/>
        </p:nvSpPr>
        <p:spPr>
          <a:xfrm>
            <a:off x="9156960" y="197496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0,9547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25"/>
          <p:cNvSpPr/>
          <p:nvPr/>
        </p:nvSpPr>
        <p:spPr>
          <a:xfrm>
            <a:off x="82296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26"/>
          <p:cNvSpPr/>
          <p:nvPr/>
        </p:nvSpPr>
        <p:spPr>
          <a:xfrm>
            <a:off x="86868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TinyBERT (15M)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 27"/>
          <p:cNvSpPr/>
          <p:nvPr/>
        </p:nvSpPr>
        <p:spPr>
          <a:xfrm>
            <a:off x="289512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8"/>
          <p:cNvSpPr/>
          <p:nvPr/>
        </p:nvSpPr>
        <p:spPr>
          <a:xfrm>
            <a:off x="294084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0,9211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29"/>
          <p:cNvSpPr/>
          <p:nvPr/>
        </p:nvSpPr>
        <p:spPr>
          <a:xfrm>
            <a:off x="496692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30"/>
          <p:cNvSpPr/>
          <p:nvPr/>
        </p:nvSpPr>
        <p:spPr>
          <a:xfrm>
            <a:off x="501264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0,9199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31"/>
          <p:cNvSpPr/>
          <p:nvPr/>
        </p:nvSpPr>
        <p:spPr>
          <a:xfrm>
            <a:off x="703908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32"/>
          <p:cNvSpPr/>
          <p:nvPr/>
        </p:nvSpPr>
        <p:spPr>
          <a:xfrm>
            <a:off x="708480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0,8632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33"/>
          <p:cNvSpPr/>
          <p:nvPr/>
        </p:nvSpPr>
        <p:spPr>
          <a:xfrm>
            <a:off x="9111240" y="2423160"/>
            <a:ext cx="2071440" cy="502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34"/>
          <p:cNvSpPr/>
          <p:nvPr/>
        </p:nvSpPr>
        <p:spPr>
          <a:xfrm>
            <a:off x="9156960" y="2477880"/>
            <a:ext cx="198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0,8906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35"/>
          <p:cNvSpPr/>
          <p:nvPr/>
        </p:nvSpPr>
        <p:spPr>
          <a:xfrm>
            <a:off x="822960" y="3063240"/>
            <a:ext cx="10359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374151"/>
                </a:solidFill>
                <a:latin typeface="Calibri"/>
              </a:rPr>
              <a:t>mBERT ohrani visoko F1 brez slovenskih učnih podatkov; TinyBERT ima nižji priklic in F1.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Few-shot primerjava: F1 glede na 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4"/>
          <p:cNvSpPr/>
          <p:nvPr/>
        </p:nvSpPr>
        <p:spPr>
          <a:xfrm>
            <a:off x="685800" y="1417320"/>
            <a:ext cx="108165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0" name="Picture 5" descr="bert_tinybert_f1.png"/>
          <p:cNvPicPr/>
          <p:nvPr/>
        </p:nvPicPr>
        <p:blipFill>
          <a:blip r:embed="rId1"/>
          <a:stretch/>
        </p:blipFill>
        <p:spPr>
          <a:xfrm rot="21596400">
            <a:off x="2698560" y="1465560"/>
            <a:ext cx="6396480" cy="3833280"/>
          </a:xfrm>
          <a:prstGeom prst="rect">
            <a:avLst/>
          </a:prstGeom>
          <a:ln w="0">
            <a:noFill/>
          </a:ln>
        </p:spPr>
      </p:pic>
      <p:sp>
        <p:nvSpPr>
          <p:cNvPr id="191" name="TextBox 6"/>
          <p:cNvSpPr/>
          <p:nvPr/>
        </p:nvSpPr>
        <p:spPr>
          <a:xfrm>
            <a:off x="822960" y="553212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mBERT je stabilen: F1 ≈ 0,954–0,956 pri vseh 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822960" y="594360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TinyBERT je ne-monoton: padec pri k=10 in k=200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822960" y="635508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Najboljši TinyBERT v našem testu: k=0 (0,8906) ali k=100 (0,8888)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Zakaj se F1 spreminja? (natančnost proti priklicu)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ectangle 4"/>
          <p:cNvSpPr/>
          <p:nvPr/>
        </p:nvSpPr>
        <p:spPr>
          <a:xfrm>
            <a:off x="685800" y="1417320"/>
            <a:ext cx="54399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5"/>
          <p:cNvSpPr/>
          <p:nvPr/>
        </p:nvSpPr>
        <p:spPr>
          <a:xfrm>
            <a:off x="6080760" y="1417320"/>
            <a:ext cx="54399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9" name="Picture 6" descr="bert_tinybert_precision.png"/>
          <p:cNvPicPr/>
          <p:nvPr/>
        </p:nvPicPr>
        <p:blipFill>
          <a:blip r:embed="rId1"/>
          <a:stretch/>
        </p:blipFill>
        <p:spPr>
          <a:xfrm>
            <a:off x="777240" y="1508760"/>
            <a:ext cx="5257080" cy="3153960"/>
          </a:xfrm>
          <a:prstGeom prst="rect">
            <a:avLst/>
          </a:prstGeom>
          <a:ln w="0">
            <a:noFill/>
          </a:ln>
        </p:spPr>
      </p:pic>
      <p:pic>
        <p:nvPicPr>
          <p:cNvPr id="200" name="Picture 7" descr="bert_tinybert_recall.png"/>
          <p:cNvPicPr/>
          <p:nvPr/>
        </p:nvPicPr>
        <p:blipFill>
          <a:blip r:embed="rId2"/>
          <a:stretch/>
        </p:blipFill>
        <p:spPr>
          <a:xfrm>
            <a:off x="6172200" y="1508760"/>
            <a:ext cx="5257080" cy="3153960"/>
          </a:xfrm>
          <a:prstGeom prst="rect">
            <a:avLst/>
          </a:prstGeom>
          <a:ln w="0">
            <a:noFill/>
          </a:ln>
        </p:spPr>
      </p:pic>
      <p:sp>
        <p:nvSpPr>
          <p:cNvPr id="201" name="TextBox 8"/>
          <p:cNvSpPr/>
          <p:nvPr/>
        </p:nvSpPr>
        <p:spPr>
          <a:xfrm>
            <a:off x="822960" y="553212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TinyBERT pri k=10: zelo visoka natančnost (0,9625), a nizek priklic (0,7589)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822960" y="594360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Za F1 je ključno ravnotežje — precision sam po sebi ni dovolj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Matrika zmedenosti TinyBERT: k=10 vs k=100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ectangle 4"/>
          <p:cNvSpPr/>
          <p:nvPr/>
        </p:nvSpPr>
        <p:spPr>
          <a:xfrm>
            <a:off x="685800" y="1417320"/>
            <a:ext cx="54399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ectangle 5"/>
          <p:cNvSpPr/>
          <p:nvPr/>
        </p:nvSpPr>
        <p:spPr>
          <a:xfrm>
            <a:off x="6080760" y="1417320"/>
            <a:ext cx="54399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8" name="Picture 6" descr="confusion_matrix.png"/>
          <p:cNvPicPr/>
          <p:nvPr/>
        </p:nvPicPr>
        <p:blipFill>
          <a:blip r:embed="rId1"/>
          <a:stretch/>
        </p:blipFill>
        <p:spPr>
          <a:xfrm>
            <a:off x="777240" y="1508760"/>
            <a:ext cx="5257080" cy="420552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7" descr="confusion_matrix.png"/>
          <p:cNvPicPr/>
          <p:nvPr/>
        </p:nvPicPr>
        <p:blipFill>
          <a:blip r:embed="rId2"/>
          <a:stretch/>
        </p:blipFill>
        <p:spPr>
          <a:xfrm>
            <a:off x="6172200" y="1508760"/>
            <a:ext cx="5257080" cy="4205520"/>
          </a:xfrm>
          <a:prstGeom prst="rect">
            <a:avLst/>
          </a:prstGeom>
          <a:ln w="0">
            <a:noFill/>
          </a:ln>
        </p:spPr>
      </p:pic>
      <p:sp>
        <p:nvSpPr>
          <p:cNvPr id="210" name="TextBox 8"/>
          <p:cNvSpPr/>
          <p:nvPr/>
        </p:nvSpPr>
        <p:spPr>
          <a:xfrm>
            <a:off x="822960" y="553212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k=10: FP=61, FN=497 → model spregleda veliko spama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822960" y="594360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k=100: FN pade na 299 (manj spregledanega spama) → F1 se izboljša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Zero-shot (EN→SL): mBERT vs TinyBERT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Rectangle 4"/>
          <p:cNvSpPr/>
          <p:nvPr/>
        </p:nvSpPr>
        <p:spPr>
          <a:xfrm>
            <a:off x="685800" y="1417320"/>
            <a:ext cx="54399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Rectangle 5"/>
          <p:cNvSpPr/>
          <p:nvPr/>
        </p:nvSpPr>
        <p:spPr>
          <a:xfrm>
            <a:off x="6080760" y="1417320"/>
            <a:ext cx="5439960" cy="388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7" name="Picture 6" descr="confusion_matrix.png"/>
          <p:cNvPicPr/>
          <p:nvPr/>
        </p:nvPicPr>
        <p:blipFill>
          <a:blip r:embed="rId1"/>
          <a:stretch/>
        </p:blipFill>
        <p:spPr>
          <a:xfrm>
            <a:off x="777240" y="1508760"/>
            <a:ext cx="5257080" cy="4205520"/>
          </a:xfrm>
          <a:prstGeom prst="rect">
            <a:avLst/>
          </a:prstGeom>
          <a:ln w="0">
            <a:noFill/>
          </a:ln>
        </p:spPr>
      </p:pic>
      <p:pic>
        <p:nvPicPr>
          <p:cNvPr id="218" name="Picture 7" descr="confusion_matrix.png"/>
          <p:cNvPicPr/>
          <p:nvPr/>
        </p:nvPicPr>
        <p:blipFill>
          <a:blip r:embed="rId2"/>
          <a:stretch/>
        </p:blipFill>
        <p:spPr>
          <a:xfrm>
            <a:off x="6172200" y="1508760"/>
            <a:ext cx="5257080" cy="4205520"/>
          </a:xfrm>
          <a:prstGeom prst="rect">
            <a:avLst/>
          </a:prstGeom>
          <a:ln w="0">
            <a:noFill/>
          </a:ln>
        </p:spPr>
      </p:pic>
      <p:sp>
        <p:nvSpPr>
          <p:cNvPr id="219" name="TextBox 8"/>
          <p:cNvSpPr/>
          <p:nvPr/>
        </p:nvSpPr>
        <p:spPr>
          <a:xfrm>
            <a:off x="822960" y="553212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mBERT: FP=87, FN=99 → uravnotežena natančnost in priklic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822960" y="5943600"/>
            <a:ext cx="11273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TinyBERT: FP=155, FN=282 → več spama se izgubi (nižji priklic)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640080" y="411480"/>
            <a:ext cx="10908000" cy="68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822960" y="484560"/>
            <a:ext cx="1054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Praktične implikacije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3"/>
          <p:cNvSpPr/>
          <p:nvPr/>
        </p:nvSpPr>
        <p:spPr>
          <a:xfrm>
            <a:off x="640080" y="1124640"/>
            <a:ext cx="10908000" cy="45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685800" y="1371600"/>
            <a:ext cx="5316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5"/>
          <p:cNvSpPr/>
          <p:nvPr/>
        </p:nvSpPr>
        <p:spPr>
          <a:xfrm>
            <a:off x="685800" y="1371600"/>
            <a:ext cx="10908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850320" y="1444680"/>
            <a:ext cx="509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mBERT (110M)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7"/>
          <p:cNvSpPr/>
          <p:nvPr/>
        </p:nvSpPr>
        <p:spPr>
          <a:xfrm>
            <a:off x="685800" y="196596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Idealen za splošno rabo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8"/>
          <p:cNvSpPr/>
          <p:nvPr/>
        </p:nvSpPr>
        <p:spPr>
          <a:xfrm>
            <a:off x="685800" y="251460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Visoka zmogljivost brez slov. podatkov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685800" y="306324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Hitro uvajanje v novih jezikih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0"/>
          <p:cNvSpPr/>
          <p:nvPr/>
        </p:nvSpPr>
        <p:spPr>
          <a:xfrm>
            <a:off x="685800" y="361188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Zero-shot pristop pogosto zadošča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685800" y="416052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Few-shot prinese le minimalne spremembe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12"/>
          <p:cNvSpPr/>
          <p:nvPr/>
        </p:nvSpPr>
        <p:spPr>
          <a:xfrm>
            <a:off x="6185880" y="1371600"/>
            <a:ext cx="5316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ectangle 13"/>
          <p:cNvSpPr/>
          <p:nvPr/>
        </p:nvSpPr>
        <p:spPr>
          <a:xfrm>
            <a:off x="6185880" y="1371600"/>
            <a:ext cx="109080" cy="502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14"/>
          <p:cNvSpPr/>
          <p:nvPr/>
        </p:nvSpPr>
        <p:spPr>
          <a:xfrm>
            <a:off x="6350400" y="1444680"/>
            <a:ext cx="509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TinyBERT (15M)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5"/>
          <p:cNvSpPr/>
          <p:nvPr/>
        </p:nvSpPr>
        <p:spPr>
          <a:xfrm>
            <a:off x="6185880" y="196596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Primeren za mobilne naprave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16"/>
          <p:cNvSpPr/>
          <p:nvPr/>
        </p:nvSpPr>
        <p:spPr>
          <a:xfrm>
            <a:off x="6185880" y="251460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Lokalna obdelava – zasebnost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6185880" y="306324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Deluje brez internetne povezave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8"/>
          <p:cNvSpPr/>
          <p:nvPr/>
        </p:nvSpPr>
        <p:spPr>
          <a:xfrm>
            <a:off x="6185880" y="361188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Few-shot zahteva previdno validacijo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9"/>
          <p:cNvSpPr/>
          <p:nvPr/>
        </p:nvSpPr>
        <p:spPr>
          <a:xfrm>
            <a:off x="6185880" y="4160520"/>
            <a:ext cx="531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k≈50–100 je v našem testu najbolj stabilen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640080" y="594360"/>
            <a:ext cx="10908000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Rectangle 2"/>
          <p:cNvSpPr/>
          <p:nvPr/>
        </p:nvSpPr>
        <p:spPr>
          <a:xfrm>
            <a:off x="640080" y="1097280"/>
            <a:ext cx="10908000" cy="484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868680" y="1280160"/>
            <a:ext cx="104508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11827"/>
                </a:solidFill>
                <a:latin typeface="Calibri"/>
              </a:rPr>
              <a:t>Hvala za pozornost!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914400" y="2286000"/>
            <a:ext cx="4937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11827"/>
                </a:solidFill>
                <a:latin typeface="Calibri"/>
              </a:rPr>
              <a:t>Vprašanja?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914400" y="2057400"/>
            <a:ext cx="493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Koda in podatki: github.com/jez-teh/SV1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2026-05-27T23:16:48Z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