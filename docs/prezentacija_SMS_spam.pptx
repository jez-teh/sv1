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</p:sldIdLst>
  <p:sldSz cx="12188825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8932B54-1DD8-406B-A17F-F00387DA81B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DA3FC273-B1F2-4978-8E7D-954A7C30094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7AFE2579-191A-4D4C-85DD-B1C67E53F08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91CD6038-1507-41D2-A1F7-9DD359C593E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972552A6-0FD8-416E-9BCB-EF94E9592A5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235B2C6B-11AB-4F2E-8C5E-C2B80B6CA03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C264BCA9-96D7-4514-BED5-1472A8AAF16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54759606-2477-4E24-BFDA-A05695AF0DF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C156D149-AF21-42BC-8B66-25B65C9815C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064B8096-3DC4-4A15-87E2-9089CE4A4A4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007D7C1F-23A3-444E-BF24-DFEC7C67530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5ED4296-CF6F-4D83-A125-D7B353388BC5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F987FCA-E4F3-48BE-A634-96E9334020D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913C5C8-9F9A-4590-A7BC-69A21469DE31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D571180-6C6A-406D-ADBE-32F9060B6825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E429513-56EA-4F89-A4B0-CD7936A79F6D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A829899-C23D-4B9B-B791-7466A1E86D69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438D2EC-8D8D-4D95-8912-F0F6B96D3896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C3FDA77-3AA1-490F-93EC-01F6E6FD010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76FBB61-1F34-471E-B910-3A216BF487D4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321B04E-C4AB-41D3-B112-61F86529D450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6A56A54-1C50-4775-9B8D-0D54360F57D3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1"/>
          <p:cNvSpPr/>
          <p:nvPr/>
        </p:nvSpPr>
        <p:spPr>
          <a:xfrm>
            <a:off x="640080" y="594360"/>
            <a:ext cx="10908360" cy="5436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" name="Rectangle 2"/>
          <p:cNvSpPr/>
          <p:nvPr/>
        </p:nvSpPr>
        <p:spPr>
          <a:xfrm>
            <a:off x="640080" y="1234440"/>
            <a:ext cx="10908360" cy="2925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" name="TextBox 3"/>
          <p:cNvSpPr/>
          <p:nvPr/>
        </p:nvSpPr>
        <p:spPr>
          <a:xfrm>
            <a:off x="914400" y="1508760"/>
            <a:ext cx="10359720" cy="7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4400" spc="-1" strike="noStrike">
                <a:solidFill>
                  <a:srgbClr val="111827"/>
                </a:solidFill>
                <a:latin typeface="Calibri"/>
              </a:rPr>
              <a:t>Klasifikacija neželenih SMS sporočil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TextBox 4"/>
          <p:cNvSpPr/>
          <p:nvPr/>
        </p:nvSpPr>
        <p:spPr>
          <a:xfrm>
            <a:off x="914400" y="2514600"/>
            <a:ext cx="1035972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200" spc="-1" strike="noStrike">
                <a:solidFill>
                  <a:srgbClr val="374151"/>
                </a:solidFill>
                <a:latin typeface="Calibri"/>
              </a:rPr>
              <a:t>Večjezični transformatorski modeli: mBERT in TinyBERT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TextBox 5"/>
          <p:cNvSpPr/>
          <p:nvPr/>
        </p:nvSpPr>
        <p:spPr>
          <a:xfrm>
            <a:off x="914400" y="3337560"/>
            <a:ext cx="103597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374151"/>
                </a:solidFill>
                <a:latin typeface="Calibri"/>
              </a:rPr>
              <a:t>David Krajnc • David Lipavec • Matija Pajenk • Andraž Šošterič • Tadej Teršek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TextBox 6"/>
          <p:cNvSpPr/>
          <p:nvPr/>
        </p:nvSpPr>
        <p:spPr>
          <a:xfrm>
            <a:off x="914400" y="3794760"/>
            <a:ext cx="103597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374151"/>
                </a:solidFill>
                <a:latin typeface="Calibri"/>
              </a:rPr>
              <a:t>FERI, Univerza v Mariboru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Rectangle 1"/>
          <p:cNvSpPr/>
          <p:nvPr/>
        </p:nvSpPr>
        <p:spPr>
          <a:xfrm>
            <a:off x="640080" y="411480"/>
            <a:ext cx="10908360" cy="685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" name="TextBox 2"/>
          <p:cNvSpPr/>
          <p:nvPr/>
        </p:nvSpPr>
        <p:spPr>
          <a:xfrm>
            <a:off x="822960" y="484560"/>
            <a:ext cx="105426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111827"/>
                </a:solidFill>
                <a:latin typeface="Calibri"/>
              </a:rPr>
              <a:t>Zakaj je detekcija SMS spama pomembna?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Rectangle 3"/>
          <p:cNvSpPr/>
          <p:nvPr/>
        </p:nvSpPr>
        <p:spPr>
          <a:xfrm>
            <a:off x="640080" y="1124640"/>
            <a:ext cx="10908360" cy="4536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6" name="TextBox 4"/>
          <p:cNvSpPr/>
          <p:nvPr/>
        </p:nvSpPr>
        <p:spPr>
          <a:xfrm>
            <a:off x="822960" y="1417320"/>
            <a:ext cx="1054260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1d4ed8"/>
                </a:solidFill>
                <a:latin typeface="Calibri"/>
              </a:rPr>
              <a:t>▸  </a:t>
            </a:r>
            <a:r>
              <a:rPr b="1" lang="en-US" sz="2000" spc="-1" strike="noStrike">
                <a:solidFill>
                  <a:srgbClr val="374151"/>
                </a:solidFill>
                <a:latin typeface="Calibri"/>
              </a:rPr>
              <a:t>5,28 milijarde uporabnikov mobilnih telefonov (2025)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TextBox 5"/>
          <p:cNvSpPr/>
          <p:nvPr/>
        </p:nvSpPr>
        <p:spPr>
          <a:xfrm>
            <a:off x="822960" y="1947600"/>
            <a:ext cx="1054260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1d4ed8"/>
                </a:solidFill>
                <a:latin typeface="Calibri"/>
              </a:rPr>
              <a:t>▸  </a:t>
            </a:r>
            <a:r>
              <a:rPr b="1" lang="en-US" sz="2000" spc="-1" strike="noStrike">
                <a:solidFill>
                  <a:srgbClr val="374151"/>
                </a:solidFill>
                <a:latin typeface="Calibri"/>
              </a:rPr>
              <a:t>~25 milijard SMS sporočil dnevno — velik del je spam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TextBox 6"/>
          <p:cNvSpPr/>
          <p:nvPr/>
        </p:nvSpPr>
        <p:spPr>
          <a:xfrm>
            <a:off x="822960" y="2477880"/>
            <a:ext cx="1054260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1d4ed8"/>
                </a:solidFill>
                <a:latin typeface="Calibri"/>
              </a:rPr>
              <a:t>▸  </a:t>
            </a:r>
            <a:r>
              <a:rPr b="1" lang="en-US" sz="2000" spc="-1" strike="noStrike">
                <a:solidFill>
                  <a:srgbClr val="d97706"/>
                </a:solidFill>
                <a:latin typeface="Calibri"/>
              </a:rPr>
              <a:t>SMS spam se razlikuje od e-poštnega spama: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TextBox 7"/>
          <p:cNvSpPr/>
          <p:nvPr/>
        </p:nvSpPr>
        <p:spPr>
          <a:xfrm>
            <a:off x="1234440" y="3008520"/>
            <a:ext cx="1013112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700" spc="-1" strike="noStrike">
                <a:solidFill>
                  <a:srgbClr val="374151"/>
                </a:solidFill>
                <a:latin typeface="Calibri"/>
              </a:rPr>
              <a:t>Bistveno krajša sporočila → manj konteksta za model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TextBox 8"/>
          <p:cNvSpPr/>
          <p:nvPr/>
        </p:nvSpPr>
        <p:spPr>
          <a:xfrm>
            <a:off x="1234440" y="3429000"/>
            <a:ext cx="1013112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700" spc="-1" strike="noStrike">
                <a:solidFill>
                  <a:srgbClr val="374151"/>
                </a:solidFill>
                <a:latin typeface="Calibri"/>
              </a:rPr>
              <a:t>Neformalni jezik, kratice, emojiji, namerne napake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TextBox 9"/>
          <p:cNvSpPr/>
          <p:nvPr/>
        </p:nvSpPr>
        <p:spPr>
          <a:xfrm>
            <a:off x="1234440" y="3849480"/>
            <a:ext cx="1013112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700" spc="-1" strike="noStrike">
                <a:solidFill>
                  <a:srgbClr val="374151"/>
                </a:solidFill>
                <a:latin typeface="Calibri"/>
              </a:rPr>
              <a:t>Mobilno-specifične lastnosti (tel. številke, čas pošiljanja)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TextBox 10"/>
          <p:cNvSpPr/>
          <p:nvPr/>
        </p:nvSpPr>
        <p:spPr>
          <a:xfrm>
            <a:off x="822960" y="4270320"/>
            <a:ext cx="1054260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1d4ed8"/>
                </a:solidFill>
                <a:latin typeface="Calibri"/>
              </a:rPr>
              <a:t>▸  </a:t>
            </a:r>
            <a:r>
              <a:rPr b="1" lang="en-US" sz="2000" spc="-1" strike="noStrike">
                <a:solidFill>
                  <a:srgbClr val="d97706"/>
                </a:solidFill>
                <a:latin typeface="Calibri"/>
              </a:rPr>
              <a:t>Modeli za e-pošto niso neposredno prenosljivi na SMS domeno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TextBox 11"/>
          <p:cNvSpPr/>
          <p:nvPr/>
        </p:nvSpPr>
        <p:spPr>
          <a:xfrm>
            <a:off x="822960" y="4800600"/>
            <a:ext cx="1054260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1d4ed8"/>
                </a:solidFill>
                <a:latin typeface="Calibri"/>
              </a:rPr>
              <a:t>▸  </a:t>
            </a:r>
            <a:r>
              <a:rPr b="1" lang="en-US" sz="2000" spc="-1" strike="noStrike">
                <a:solidFill>
                  <a:srgbClr val="111827"/>
                </a:solidFill>
                <a:latin typeface="Calibri"/>
              </a:rPr>
              <a:t>Cilj: učinkovita detekcija v slovenščini brez namenskih slov. podatkov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Rectangle 1"/>
          <p:cNvSpPr/>
          <p:nvPr/>
        </p:nvSpPr>
        <p:spPr>
          <a:xfrm>
            <a:off x="640080" y="411480"/>
            <a:ext cx="10908360" cy="685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5" name="TextBox 2"/>
          <p:cNvSpPr/>
          <p:nvPr/>
        </p:nvSpPr>
        <p:spPr>
          <a:xfrm>
            <a:off x="822960" y="484560"/>
            <a:ext cx="105426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111827"/>
                </a:solidFill>
                <a:latin typeface="Calibri"/>
              </a:rPr>
              <a:t>Pregled sorodnih del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ectangle 3"/>
          <p:cNvSpPr/>
          <p:nvPr/>
        </p:nvSpPr>
        <p:spPr>
          <a:xfrm>
            <a:off x="640080" y="1124640"/>
            <a:ext cx="10908360" cy="4536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7" name="TextBox 4"/>
          <p:cNvSpPr/>
          <p:nvPr/>
        </p:nvSpPr>
        <p:spPr>
          <a:xfrm>
            <a:off x="822960" y="1417320"/>
            <a:ext cx="1054260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1d4ed8"/>
                </a:solidFill>
                <a:latin typeface="Calibri"/>
              </a:rPr>
              <a:t>▸  </a:t>
            </a:r>
            <a:r>
              <a:rPr b="1" lang="en-US" sz="2000" spc="-1" strike="noStrike">
                <a:solidFill>
                  <a:srgbClr val="374151"/>
                </a:solidFill>
                <a:latin typeface="Calibri"/>
              </a:rPr>
              <a:t>Zgodnejši pristopi – ne-vsebinske lastnosti (metapodatki, SVM)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TextBox 5"/>
          <p:cNvSpPr/>
          <p:nvPr/>
        </p:nvSpPr>
        <p:spPr>
          <a:xfrm>
            <a:off x="822960" y="1947600"/>
            <a:ext cx="1054260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1d4ed8"/>
                </a:solidFill>
                <a:latin typeface="Calibri"/>
              </a:rPr>
              <a:t>▸  </a:t>
            </a:r>
            <a:r>
              <a:rPr b="1" lang="en-US" sz="2000" spc="-1" strike="noStrike">
                <a:solidFill>
                  <a:srgbClr val="374151"/>
                </a:solidFill>
                <a:latin typeface="Calibri"/>
              </a:rPr>
              <a:t>Spam Transformer: mehanizem pozornosti za kratka besedila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TextBox 6"/>
          <p:cNvSpPr/>
          <p:nvPr/>
        </p:nvSpPr>
        <p:spPr>
          <a:xfrm>
            <a:off x="822960" y="2477880"/>
            <a:ext cx="1054260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1d4ed8"/>
                </a:solidFill>
                <a:latin typeface="Calibri"/>
              </a:rPr>
              <a:t>▸  </a:t>
            </a:r>
            <a:r>
              <a:rPr b="1" lang="en-US" sz="2000" spc="-1" strike="noStrike">
                <a:solidFill>
                  <a:srgbClr val="374151"/>
                </a:solidFill>
                <a:latin typeface="Calibri"/>
              </a:rPr>
              <a:t>mBERT– prednaučen na 100+ jezikih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TextBox 7"/>
          <p:cNvSpPr/>
          <p:nvPr/>
        </p:nvSpPr>
        <p:spPr>
          <a:xfrm>
            <a:off x="822960" y="3008520"/>
            <a:ext cx="1054260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1d4ed8"/>
                </a:solidFill>
                <a:latin typeface="Calibri"/>
              </a:rPr>
              <a:t>▸  </a:t>
            </a:r>
            <a:r>
              <a:rPr b="1" lang="en-US" sz="2000" spc="-1" strike="noStrike">
                <a:solidFill>
                  <a:srgbClr val="d97706"/>
                </a:solidFill>
                <a:latin typeface="Calibri"/>
              </a:rPr>
              <a:t>Inturi et al. (2025): zero-shot prenos EN → hindijščina/telugu/bengalščina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TextBox 8"/>
          <p:cNvSpPr/>
          <p:nvPr/>
        </p:nvSpPr>
        <p:spPr>
          <a:xfrm>
            <a:off x="822960" y="3538800"/>
            <a:ext cx="1054260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1d4ed8"/>
                </a:solidFill>
                <a:latin typeface="Calibri"/>
              </a:rPr>
              <a:t>▸  </a:t>
            </a:r>
            <a:r>
              <a:rPr b="1" lang="en-US" sz="2000" spc="-1" strike="noStrike">
                <a:solidFill>
                  <a:srgbClr val="374151"/>
                </a:solidFill>
                <a:latin typeface="Calibri"/>
              </a:rPr>
              <a:t>XLM-R, mBERT – medjezikovni prenos znanja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TextBox 9"/>
          <p:cNvSpPr/>
          <p:nvPr/>
        </p:nvSpPr>
        <p:spPr>
          <a:xfrm>
            <a:off x="822960" y="4069080"/>
            <a:ext cx="1054260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1d4ed8"/>
                </a:solidFill>
                <a:latin typeface="Calibri"/>
              </a:rPr>
              <a:t>▸  </a:t>
            </a:r>
            <a:r>
              <a:rPr b="1" lang="en-US" sz="2000" spc="-1" strike="noStrike">
                <a:solidFill>
                  <a:srgbClr val="374151"/>
                </a:solidFill>
                <a:latin typeface="Calibri"/>
              </a:rPr>
              <a:t>TinyBERT – destilacija znanja, 15M param., mobilne naprave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TextBox 10"/>
          <p:cNvSpPr/>
          <p:nvPr/>
        </p:nvSpPr>
        <p:spPr>
          <a:xfrm>
            <a:off x="822960" y="4599360"/>
            <a:ext cx="1054260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1d4ed8"/>
                </a:solidFill>
                <a:latin typeface="Calibri"/>
              </a:rPr>
              <a:t>▸  </a:t>
            </a:r>
            <a:r>
              <a:rPr b="1" lang="en-US" sz="2000" spc="-1" strike="noStrike">
                <a:solidFill>
                  <a:srgbClr val="374151"/>
                </a:solidFill>
                <a:latin typeface="Calibri"/>
              </a:rPr>
              <a:t>TYMBERT – kvantiziran model, samo 27,4 MB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TextBox 11"/>
          <p:cNvSpPr/>
          <p:nvPr/>
        </p:nvSpPr>
        <p:spPr>
          <a:xfrm>
            <a:off x="822960" y="5129640"/>
            <a:ext cx="1054260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1d4ed8"/>
                </a:solidFill>
                <a:latin typeface="Calibri"/>
              </a:rPr>
              <a:t>▸  </a:t>
            </a:r>
            <a:r>
              <a:rPr b="1" lang="en-US" sz="2000" spc="-1" strike="noStrike">
                <a:solidFill>
                  <a:srgbClr val="111827"/>
                </a:solidFill>
                <a:latin typeface="Calibri"/>
              </a:rPr>
              <a:t>Naša razširitev: dodamo slovenščino in TinyBERT v primerjavo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Rectangle 1"/>
          <p:cNvSpPr/>
          <p:nvPr/>
        </p:nvSpPr>
        <p:spPr>
          <a:xfrm>
            <a:off x="640080" y="411480"/>
            <a:ext cx="10908360" cy="685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6" name="TextBox 2"/>
          <p:cNvSpPr/>
          <p:nvPr/>
        </p:nvSpPr>
        <p:spPr>
          <a:xfrm>
            <a:off x="822960" y="484560"/>
            <a:ext cx="105426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111827"/>
                </a:solidFill>
                <a:latin typeface="Calibri"/>
              </a:rPr>
              <a:t>Naša ideja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Rectangle 3"/>
          <p:cNvSpPr/>
          <p:nvPr/>
        </p:nvSpPr>
        <p:spPr>
          <a:xfrm>
            <a:off x="640080" y="1124640"/>
            <a:ext cx="10908360" cy="4536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8" name="Rectangle 4"/>
          <p:cNvSpPr/>
          <p:nvPr/>
        </p:nvSpPr>
        <p:spPr>
          <a:xfrm>
            <a:off x="685800" y="1371600"/>
            <a:ext cx="5316840" cy="502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9" name="Rectangle 5"/>
          <p:cNvSpPr/>
          <p:nvPr/>
        </p:nvSpPr>
        <p:spPr>
          <a:xfrm>
            <a:off x="685800" y="1371600"/>
            <a:ext cx="109440" cy="50256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0" name="TextBox 6"/>
          <p:cNvSpPr/>
          <p:nvPr/>
        </p:nvSpPr>
        <p:spPr>
          <a:xfrm>
            <a:off x="850320" y="1444680"/>
            <a:ext cx="509760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111827"/>
                </a:solidFill>
                <a:latin typeface="Calibri"/>
              </a:rPr>
              <a:t>Pristop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TextBox 7"/>
          <p:cNvSpPr/>
          <p:nvPr/>
        </p:nvSpPr>
        <p:spPr>
          <a:xfrm>
            <a:off x="685800" y="1965960"/>
            <a:ext cx="531684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1d4ed8"/>
                </a:solidFill>
                <a:latin typeface="Calibri"/>
              </a:rPr>
              <a:t>▸  </a:t>
            </a:r>
            <a:r>
              <a:rPr b="0" lang="en-US" sz="1700" spc="-1" strike="noStrike">
                <a:solidFill>
                  <a:srgbClr val="374151"/>
                </a:solidFill>
                <a:latin typeface="Calibri"/>
              </a:rPr>
              <a:t>Replikacija in nadgradnja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TextBox 8"/>
          <p:cNvSpPr/>
          <p:nvPr/>
        </p:nvSpPr>
        <p:spPr>
          <a:xfrm>
            <a:off x="685800" y="2514600"/>
            <a:ext cx="531684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1d4ed8"/>
                </a:solidFill>
                <a:latin typeface="Calibri"/>
              </a:rPr>
              <a:t>▸  </a:t>
            </a:r>
            <a:r>
              <a:rPr b="0" lang="en-US" sz="1700" spc="-1" strike="noStrike">
                <a:solidFill>
                  <a:srgbClr val="374151"/>
                </a:solidFill>
                <a:latin typeface="Calibri"/>
              </a:rPr>
              <a:t>mBERT (110M param.) – splošna raba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TextBox 9"/>
          <p:cNvSpPr/>
          <p:nvPr/>
        </p:nvSpPr>
        <p:spPr>
          <a:xfrm>
            <a:off x="685800" y="3063240"/>
            <a:ext cx="531684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1d4ed8"/>
                </a:solidFill>
                <a:latin typeface="Calibri"/>
              </a:rPr>
              <a:t>▸  </a:t>
            </a:r>
            <a:r>
              <a:rPr b="0" lang="en-US" sz="1700" spc="-1" strike="noStrike">
                <a:solidFill>
                  <a:srgbClr val="374151"/>
                </a:solidFill>
                <a:latin typeface="Calibri"/>
              </a:rPr>
              <a:t>TinyBERT (15M param.) – mobilne naprave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TextBox 10"/>
          <p:cNvSpPr/>
          <p:nvPr/>
        </p:nvSpPr>
        <p:spPr>
          <a:xfrm>
            <a:off x="685800" y="3611880"/>
            <a:ext cx="531684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1d4ed8"/>
                </a:solidFill>
                <a:latin typeface="Calibri"/>
              </a:rPr>
              <a:t>▸  </a:t>
            </a:r>
            <a:r>
              <a:rPr b="0" lang="en-US" sz="1700" spc="-1" strike="noStrike">
                <a:solidFill>
                  <a:srgbClr val="374151"/>
                </a:solidFill>
                <a:latin typeface="Calibri"/>
              </a:rPr>
              <a:t>Jezikovni par: angleščina → slovenščina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TextBox 11"/>
          <p:cNvSpPr/>
          <p:nvPr/>
        </p:nvSpPr>
        <p:spPr>
          <a:xfrm>
            <a:off x="685800" y="4160520"/>
            <a:ext cx="531684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1d4ed8"/>
                </a:solidFill>
                <a:latin typeface="Calibri"/>
              </a:rPr>
              <a:t>▸  </a:t>
            </a:r>
            <a:r>
              <a:rPr b="0" lang="en-US" sz="1700" spc="-1" strike="noStrike">
                <a:solidFill>
                  <a:srgbClr val="374151"/>
                </a:solidFill>
                <a:latin typeface="Calibri"/>
              </a:rPr>
              <a:t>Zero-shot: brez slovenskih učnih podatkov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TextBox 12"/>
          <p:cNvSpPr/>
          <p:nvPr/>
        </p:nvSpPr>
        <p:spPr>
          <a:xfrm>
            <a:off x="685800" y="4709160"/>
            <a:ext cx="531684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1d4ed8"/>
                </a:solidFill>
                <a:latin typeface="Calibri"/>
              </a:rPr>
              <a:t>▸  </a:t>
            </a:r>
            <a:r>
              <a:rPr b="0" lang="en-US" sz="1700" spc="-1" strike="noStrike">
                <a:solidFill>
                  <a:srgbClr val="374151"/>
                </a:solidFill>
                <a:latin typeface="Calibri"/>
              </a:rPr>
              <a:t>Few-shot: prilagoditev z majhnim k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Rectangle 13"/>
          <p:cNvSpPr/>
          <p:nvPr/>
        </p:nvSpPr>
        <p:spPr>
          <a:xfrm>
            <a:off x="6185880" y="1371600"/>
            <a:ext cx="5316840" cy="502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8" name="Rectangle 14"/>
          <p:cNvSpPr/>
          <p:nvPr/>
        </p:nvSpPr>
        <p:spPr>
          <a:xfrm>
            <a:off x="6185880" y="1371600"/>
            <a:ext cx="109440" cy="50256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9" name="TextBox 15"/>
          <p:cNvSpPr/>
          <p:nvPr/>
        </p:nvSpPr>
        <p:spPr>
          <a:xfrm>
            <a:off x="6350400" y="1444680"/>
            <a:ext cx="509760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111827"/>
                </a:solidFill>
                <a:latin typeface="Calibri"/>
              </a:rPr>
              <a:t>Motivacija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TextBox 16"/>
          <p:cNvSpPr/>
          <p:nvPr/>
        </p:nvSpPr>
        <p:spPr>
          <a:xfrm>
            <a:off x="6185880" y="1965960"/>
            <a:ext cx="531684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1d4ed8"/>
                </a:solidFill>
                <a:latin typeface="Calibri"/>
              </a:rPr>
              <a:t>▸  </a:t>
            </a:r>
            <a:r>
              <a:rPr b="0" lang="en-US" sz="1700" spc="-1" strike="noStrike">
                <a:solidFill>
                  <a:srgbClr val="374151"/>
                </a:solidFill>
                <a:latin typeface="Calibri"/>
              </a:rPr>
              <a:t>Zasebnost: lokalna obdelava na telefonu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17"/>
          <p:cNvSpPr/>
          <p:nvPr/>
        </p:nvSpPr>
        <p:spPr>
          <a:xfrm>
            <a:off x="6185880" y="2514600"/>
            <a:ext cx="531684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1d4ed8"/>
                </a:solidFill>
                <a:latin typeface="Calibri"/>
              </a:rPr>
              <a:t>▸  </a:t>
            </a:r>
            <a:r>
              <a:rPr b="0" lang="en-US" sz="1700" spc="-1" strike="noStrike">
                <a:solidFill>
                  <a:srgbClr val="374151"/>
                </a:solidFill>
                <a:latin typeface="Calibri"/>
              </a:rPr>
              <a:t>Odzivnost brez internetne povezave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TextBox 18"/>
          <p:cNvSpPr/>
          <p:nvPr/>
        </p:nvSpPr>
        <p:spPr>
          <a:xfrm>
            <a:off x="6185880" y="3063240"/>
            <a:ext cx="531684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1d4ed8"/>
                </a:solidFill>
                <a:latin typeface="Calibri"/>
              </a:rPr>
              <a:t>▸  </a:t>
            </a:r>
            <a:r>
              <a:rPr b="0" lang="en-US" sz="1700" spc="-1" strike="noStrike">
                <a:solidFill>
                  <a:srgbClr val="374151"/>
                </a:solidFill>
                <a:latin typeface="Calibri"/>
              </a:rPr>
              <a:t>Energetska učinkovitost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TextBox 19"/>
          <p:cNvSpPr/>
          <p:nvPr/>
        </p:nvSpPr>
        <p:spPr>
          <a:xfrm>
            <a:off x="6185880" y="3611880"/>
            <a:ext cx="531684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TextBox 20"/>
          <p:cNvSpPr/>
          <p:nvPr/>
        </p:nvSpPr>
        <p:spPr>
          <a:xfrm>
            <a:off x="6172200" y="3611880"/>
            <a:ext cx="531684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1d4ed8"/>
                </a:solidFill>
                <a:latin typeface="Calibri"/>
              </a:rPr>
              <a:t>▸  </a:t>
            </a:r>
            <a:r>
              <a:rPr b="0" lang="en-US" sz="1700" spc="-1" strike="noStrike">
                <a:solidFill>
                  <a:srgbClr val="374151"/>
                </a:solidFill>
                <a:latin typeface="Calibri"/>
              </a:rPr>
              <a:t>Manj zastopani jeziki (SL)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TextBox 21"/>
          <p:cNvSpPr/>
          <p:nvPr/>
        </p:nvSpPr>
        <p:spPr>
          <a:xfrm>
            <a:off x="6172200" y="4114800"/>
            <a:ext cx="531684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1d4ed8"/>
                </a:solidFill>
                <a:latin typeface="Calibri"/>
              </a:rPr>
              <a:t>▸  </a:t>
            </a:r>
            <a:r>
              <a:rPr b="0" lang="en-US" sz="1700" spc="-1" strike="noStrike">
                <a:solidFill>
                  <a:srgbClr val="374151"/>
                </a:solidFill>
                <a:latin typeface="Calibri"/>
              </a:rPr>
              <a:t>Kompromis: zmogljivost vs. velikost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Rectangle 1"/>
          <p:cNvSpPr/>
          <p:nvPr/>
        </p:nvSpPr>
        <p:spPr>
          <a:xfrm>
            <a:off x="640080" y="411480"/>
            <a:ext cx="10908360" cy="685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7" name="TextBox 2"/>
          <p:cNvSpPr/>
          <p:nvPr/>
        </p:nvSpPr>
        <p:spPr>
          <a:xfrm>
            <a:off x="822960" y="484560"/>
            <a:ext cx="105426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111827"/>
                </a:solidFill>
                <a:latin typeface="Calibri"/>
              </a:rPr>
              <a:t>Metodologija: podatki in postavitev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Rectangle 3"/>
          <p:cNvSpPr/>
          <p:nvPr/>
        </p:nvSpPr>
        <p:spPr>
          <a:xfrm>
            <a:off x="640080" y="1124640"/>
            <a:ext cx="10908360" cy="4536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9" name="TextBox 4"/>
          <p:cNvSpPr/>
          <p:nvPr/>
        </p:nvSpPr>
        <p:spPr>
          <a:xfrm>
            <a:off x="822960" y="1417320"/>
            <a:ext cx="105426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100" spc="-1" strike="noStrike">
                <a:solidFill>
                  <a:srgbClr val="1d4ed8"/>
                </a:solidFill>
                <a:latin typeface="Calibri"/>
              </a:rPr>
              <a:t>▸  </a:t>
            </a:r>
            <a:r>
              <a:rPr b="1" lang="en-US" sz="2100" spc="-1" strike="noStrike">
                <a:solidFill>
                  <a:srgbClr val="d97706"/>
                </a:solidFill>
                <a:latin typeface="Calibri"/>
              </a:rPr>
              <a:t>Nabori podatkov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TextBox 5"/>
          <p:cNvSpPr/>
          <p:nvPr/>
        </p:nvSpPr>
        <p:spPr>
          <a:xfrm>
            <a:off x="1234440" y="1947600"/>
            <a:ext cx="10131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374151"/>
                </a:solidFill>
                <a:latin typeface="Calibri"/>
              </a:rPr>
              <a:t>Angleški nabor: 55 404 SMS sporočil (ham / spam), javno dostopen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TextBox 6"/>
          <p:cNvSpPr/>
          <p:nvPr/>
        </p:nvSpPr>
        <p:spPr>
          <a:xfrm>
            <a:off x="1234440" y="2368440"/>
            <a:ext cx="10131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374151"/>
                </a:solidFill>
                <a:latin typeface="Calibri"/>
              </a:rPr>
              <a:t>Slovenski nabor: strojni prevod + ročno označevanje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TextBox 7"/>
          <p:cNvSpPr/>
          <p:nvPr/>
        </p:nvSpPr>
        <p:spPr>
          <a:xfrm>
            <a:off x="1234440" y="2788920"/>
            <a:ext cx="10131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374151"/>
                </a:solidFill>
                <a:latin typeface="Calibri"/>
              </a:rPr>
              <a:t>Delitev: 80 % učna | 10 % validacijska | 10 % testna (seed=42)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TextBox 8"/>
          <p:cNvSpPr/>
          <p:nvPr/>
        </p:nvSpPr>
        <p:spPr>
          <a:xfrm>
            <a:off x="822960" y="3209400"/>
            <a:ext cx="105426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100" spc="-1" strike="noStrike">
                <a:solidFill>
                  <a:srgbClr val="1d4ed8"/>
                </a:solidFill>
                <a:latin typeface="Calibri"/>
              </a:rPr>
              <a:t>▸  </a:t>
            </a:r>
            <a:r>
              <a:rPr b="1" lang="en-US" sz="2100" spc="-1" strike="noStrike">
                <a:solidFill>
                  <a:srgbClr val="d97706"/>
                </a:solidFill>
                <a:latin typeface="Calibri"/>
              </a:rPr>
              <a:t>Eksperimentalni scenariji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TextBox 9"/>
          <p:cNvSpPr/>
          <p:nvPr/>
        </p:nvSpPr>
        <p:spPr>
          <a:xfrm>
            <a:off x="1234440" y="3740040"/>
            <a:ext cx="10131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374151"/>
                </a:solidFill>
                <a:latin typeface="Calibri"/>
              </a:rPr>
              <a:t>EN → EN: referenčna zgornja meja zmogljivosti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TextBox 10"/>
          <p:cNvSpPr/>
          <p:nvPr/>
        </p:nvSpPr>
        <p:spPr>
          <a:xfrm>
            <a:off x="1234440" y="4160520"/>
            <a:ext cx="10131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374151"/>
                </a:solidFill>
                <a:latin typeface="Calibri"/>
              </a:rPr>
              <a:t>EN → SL (zero-shot): model naučen samo na angleščini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TextBox 11"/>
          <p:cNvSpPr/>
          <p:nvPr/>
        </p:nvSpPr>
        <p:spPr>
          <a:xfrm>
            <a:off x="1234440" y="4581000"/>
            <a:ext cx="10131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374151"/>
                </a:solidFill>
                <a:latin typeface="Calibri"/>
              </a:rPr>
              <a:t>EN → SL + k (few-shot): k ∈ {10, 50, 100, 200} slov. primerov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TextBox 12"/>
          <p:cNvSpPr/>
          <p:nvPr/>
        </p:nvSpPr>
        <p:spPr>
          <a:xfrm>
            <a:off x="822960" y="5001840"/>
            <a:ext cx="10542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1d4ed8"/>
                </a:solidFill>
                <a:latin typeface="Calibri"/>
              </a:rPr>
              <a:t>▸  </a:t>
            </a:r>
            <a:r>
              <a:rPr b="0" lang="en-US" sz="1800" spc="-1" strike="noStrike">
                <a:solidFill>
                  <a:srgbClr val="374151"/>
                </a:solidFill>
                <a:latin typeface="Calibri"/>
              </a:rPr>
              <a:t>Hiperparametri: LR = 2×10⁻⁵, 3 epohe, batch = 4 (8 pri few-shot)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TextBox 13"/>
          <p:cNvSpPr/>
          <p:nvPr/>
        </p:nvSpPr>
        <p:spPr>
          <a:xfrm>
            <a:off x="822960" y="5422320"/>
            <a:ext cx="10542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1d4ed8"/>
                </a:solidFill>
                <a:latin typeface="Calibri"/>
              </a:rPr>
              <a:t>▸  </a:t>
            </a:r>
            <a:r>
              <a:rPr b="0" lang="en-US" sz="1800" spc="-1" strike="noStrike">
                <a:solidFill>
                  <a:srgbClr val="374151"/>
                </a:solidFill>
                <a:latin typeface="Calibri"/>
              </a:rPr>
              <a:t>Metrike: točnost, natančnost, priklic, F1 (pozitivni razred = spam)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Rectangle 1"/>
          <p:cNvSpPr/>
          <p:nvPr/>
        </p:nvSpPr>
        <p:spPr>
          <a:xfrm>
            <a:off x="640080" y="411480"/>
            <a:ext cx="10908360" cy="685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0" name="TextBox 2"/>
          <p:cNvSpPr/>
          <p:nvPr/>
        </p:nvSpPr>
        <p:spPr>
          <a:xfrm>
            <a:off x="822960" y="484560"/>
            <a:ext cx="105426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111827"/>
                </a:solidFill>
                <a:latin typeface="Calibri"/>
              </a:rPr>
              <a:t>Rezultati: Zero-shot (EN → SL)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Rectangle 3"/>
          <p:cNvSpPr/>
          <p:nvPr/>
        </p:nvSpPr>
        <p:spPr>
          <a:xfrm>
            <a:off x="640080" y="1124640"/>
            <a:ext cx="10908360" cy="4536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2" name="Rectangle 4"/>
          <p:cNvSpPr/>
          <p:nvPr/>
        </p:nvSpPr>
        <p:spPr>
          <a:xfrm>
            <a:off x="640080" y="1234440"/>
            <a:ext cx="10725480" cy="1874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3" name="Rectangle 5"/>
          <p:cNvSpPr/>
          <p:nvPr/>
        </p:nvSpPr>
        <p:spPr>
          <a:xfrm>
            <a:off x="822960" y="1417320"/>
            <a:ext cx="2071800" cy="50256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4" name="TextBox 6"/>
          <p:cNvSpPr/>
          <p:nvPr/>
        </p:nvSpPr>
        <p:spPr>
          <a:xfrm>
            <a:off x="868680" y="1472040"/>
            <a:ext cx="19803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</a:rPr>
              <a:t>Model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Rectangle 7"/>
          <p:cNvSpPr/>
          <p:nvPr/>
        </p:nvSpPr>
        <p:spPr>
          <a:xfrm>
            <a:off x="2895120" y="1417320"/>
            <a:ext cx="2071800" cy="50256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6" name="TextBox 8"/>
          <p:cNvSpPr/>
          <p:nvPr/>
        </p:nvSpPr>
        <p:spPr>
          <a:xfrm>
            <a:off x="2940840" y="1472040"/>
            <a:ext cx="19803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</a:rPr>
              <a:t>Točnost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Rectangle 9"/>
          <p:cNvSpPr/>
          <p:nvPr/>
        </p:nvSpPr>
        <p:spPr>
          <a:xfrm>
            <a:off x="4966920" y="1417320"/>
            <a:ext cx="2071800" cy="50256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8" name="TextBox 10"/>
          <p:cNvSpPr/>
          <p:nvPr/>
        </p:nvSpPr>
        <p:spPr>
          <a:xfrm>
            <a:off x="5012640" y="1472040"/>
            <a:ext cx="19803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</a:rPr>
              <a:t>Natančnost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Rectangle 11"/>
          <p:cNvSpPr/>
          <p:nvPr/>
        </p:nvSpPr>
        <p:spPr>
          <a:xfrm>
            <a:off x="7039080" y="1417320"/>
            <a:ext cx="2071800" cy="50256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0" name="TextBox 12"/>
          <p:cNvSpPr/>
          <p:nvPr/>
        </p:nvSpPr>
        <p:spPr>
          <a:xfrm>
            <a:off x="7084800" y="1472040"/>
            <a:ext cx="19803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</a:rPr>
              <a:t>Priklic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Rectangle 13"/>
          <p:cNvSpPr/>
          <p:nvPr/>
        </p:nvSpPr>
        <p:spPr>
          <a:xfrm>
            <a:off x="9111240" y="1417320"/>
            <a:ext cx="2071800" cy="50256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2" name="TextBox 14"/>
          <p:cNvSpPr/>
          <p:nvPr/>
        </p:nvSpPr>
        <p:spPr>
          <a:xfrm>
            <a:off x="9156960" y="1472040"/>
            <a:ext cx="19803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</a:rPr>
              <a:t>F1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Rectangle 15"/>
          <p:cNvSpPr/>
          <p:nvPr/>
        </p:nvSpPr>
        <p:spPr>
          <a:xfrm>
            <a:off x="822960" y="1920240"/>
            <a:ext cx="2071800" cy="502560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4" name="TextBox 16"/>
          <p:cNvSpPr/>
          <p:nvPr/>
        </p:nvSpPr>
        <p:spPr>
          <a:xfrm>
            <a:off x="868680" y="1974960"/>
            <a:ext cx="19803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111827"/>
                </a:solidFill>
                <a:latin typeface="Calibri"/>
              </a:rPr>
              <a:t>mBERT (110M)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Rectangle 17"/>
          <p:cNvSpPr/>
          <p:nvPr/>
        </p:nvSpPr>
        <p:spPr>
          <a:xfrm>
            <a:off x="2895120" y="1920240"/>
            <a:ext cx="2071800" cy="502560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6" name="TextBox 18"/>
          <p:cNvSpPr/>
          <p:nvPr/>
        </p:nvSpPr>
        <p:spPr>
          <a:xfrm>
            <a:off x="2940840" y="1974960"/>
            <a:ext cx="19803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111827"/>
                </a:solidFill>
                <a:latin typeface="Calibri"/>
              </a:rPr>
              <a:t>0,9664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Rectangle 19"/>
          <p:cNvSpPr/>
          <p:nvPr/>
        </p:nvSpPr>
        <p:spPr>
          <a:xfrm>
            <a:off x="4966920" y="1920240"/>
            <a:ext cx="2071800" cy="502560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8" name="TextBox 20"/>
          <p:cNvSpPr/>
          <p:nvPr/>
        </p:nvSpPr>
        <p:spPr>
          <a:xfrm>
            <a:off x="5012640" y="1974960"/>
            <a:ext cx="19803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111827"/>
                </a:solidFill>
                <a:latin typeface="Calibri"/>
              </a:rPr>
              <a:t>0,9575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Rectangle 21"/>
          <p:cNvSpPr/>
          <p:nvPr/>
        </p:nvSpPr>
        <p:spPr>
          <a:xfrm>
            <a:off x="7039080" y="1920240"/>
            <a:ext cx="2071800" cy="502560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0" name="TextBox 22"/>
          <p:cNvSpPr/>
          <p:nvPr/>
        </p:nvSpPr>
        <p:spPr>
          <a:xfrm>
            <a:off x="7084800" y="1974960"/>
            <a:ext cx="19803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111827"/>
                </a:solidFill>
                <a:latin typeface="Calibri"/>
              </a:rPr>
              <a:t>0,9520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Rectangle 23"/>
          <p:cNvSpPr/>
          <p:nvPr/>
        </p:nvSpPr>
        <p:spPr>
          <a:xfrm>
            <a:off x="9111240" y="1920240"/>
            <a:ext cx="2071800" cy="502560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2" name="TextBox 24"/>
          <p:cNvSpPr/>
          <p:nvPr/>
        </p:nvSpPr>
        <p:spPr>
          <a:xfrm>
            <a:off x="9156960" y="1974960"/>
            <a:ext cx="19803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111827"/>
                </a:solidFill>
                <a:latin typeface="Calibri"/>
              </a:rPr>
              <a:t>0,9547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Rectangle 25"/>
          <p:cNvSpPr/>
          <p:nvPr/>
        </p:nvSpPr>
        <p:spPr>
          <a:xfrm>
            <a:off x="822960" y="2423160"/>
            <a:ext cx="2071800" cy="5025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4" name="TextBox 26"/>
          <p:cNvSpPr/>
          <p:nvPr/>
        </p:nvSpPr>
        <p:spPr>
          <a:xfrm>
            <a:off x="868680" y="2477880"/>
            <a:ext cx="19803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111827"/>
                </a:solidFill>
                <a:latin typeface="Calibri"/>
              </a:rPr>
              <a:t>TinyBERT (15M)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Rectangle 27"/>
          <p:cNvSpPr/>
          <p:nvPr/>
        </p:nvSpPr>
        <p:spPr>
          <a:xfrm>
            <a:off x="2895120" y="2423160"/>
            <a:ext cx="2071800" cy="5025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6" name="TextBox 28"/>
          <p:cNvSpPr/>
          <p:nvPr/>
        </p:nvSpPr>
        <p:spPr>
          <a:xfrm>
            <a:off x="2940840" y="2477880"/>
            <a:ext cx="19803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111827"/>
                </a:solidFill>
                <a:latin typeface="Calibri"/>
              </a:rPr>
              <a:t>0,9211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Rectangle 29"/>
          <p:cNvSpPr/>
          <p:nvPr/>
        </p:nvSpPr>
        <p:spPr>
          <a:xfrm>
            <a:off x="4966920" y="2423160"/>
            <a:ext cx="2071800" cy="5025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8" name="TextBox 30"/>
          <p:cNvSpPr/>
          <p:nvPr/>
        </p:nvSpPr>
        <p:spPr>
          <a:xfrm>
            <a:off x="5012640" y="2477880"/>
            <a:ext cx="19803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111827"/>
                </a:solidFill>
                <a:latin typeface="Calibri"/>
              </a:rPr>
              <a:t>0,9199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Rectangle 31"/>
          <p:cNvSpPr/>
          <p:nvPr/>
        </p:nvSpPr>
        <p:spPr>
          <a:xfrm>
            <a:off x="7039080" y="2423160"/>
            <a:ext cx="2071800" cy="5025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0" name="TextBox 32"/>
          <p:cNvSpPr/>
          <p:nvPr/>
        </p:nvSpPr>
        <p:spPr>
          <a:xfrm>
            <a:off x="7084800" y="2477880"/>
            <a:ext cx="19803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111827"/>
                </a:solidFill>
                <a:latin typeface="Calibri"/>
              </a:rPr>
              <a:t>0,8632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Rectangle 33"/>
          <p:cNvSpPr/>
          <p:nvPr/>
        </p:nvSpPr>
        <p:spPr>
          <a:xfrm>
            <a:off x="9111240" y="2423160"/>
            <a:ext cx="2071800" cy="5025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2" name="TextBox 34"/>
          <p:cNvSpPr/>
          <p:nvPr/>
        </p:nvSpPr>
        <p:spPr>
          <a:xfrm>
            <a:off x="9156960" y="2477880"/>
            <a:ext cx="19803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111827"/>
                </a:solidFill>
                <a:latin typeface="Calibri"/>
              </a:rPr>
              <a:t>0,8906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Box 35"/>
          <p:cNvSpPr/>
          <p:nvPr/>
        </p:nvSpPr>
        <p:spPr>
          <a:xfrm>
            <a:off x="822960" y="3063240"/>
            <a:ext cx="103597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1200" spc="-1" strike="noStrike">
                <a:solidFill>
                  <a:srgbClr val="374151"/>
                </a:solidFill>
                <a:latin typeface="Calibri"/>
              </a:rPr>
              <a:t>mBERT ohrani visoko F1 brez slovenskih učnih podatkov; TinyBERT ima nižji priklic in F1.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Rectangle 1"/>
          <p:cNvSpPr/>
          <p:nvPr/>
        </p:nvSpPr>
        <p:spPr>
          <a:xfrm>
            <a:off x="640080" y="411480"/>
            <a:ext cx="10908360" cy="685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5" name="TextBox 2"/>
          <p:cNvSpPr/>
          <p:nvPr/>
        </p:nvSpPr>
        <p:spPr>
          <a:xfrm>
            <a:off x="822960" y="484560"/>
            <a:ext cx="105426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111827"/>
                </a:solidFill>
                <a:latin typeface="Calibri"/>
              </a:rPr>
              <a:t>Few-shot primerjava: F1 glede na k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Rectangle 3"/>
          <p:cNvSpPr/>
          <p:nvPr/>
        </p:nvSpPr>
        <p:spPr>
          <a:xfrm>
            <a:off x="640080" y="1124640"/>
            <a:ext cx="10908360" cy="4536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7" name="Rectangle 4"/>
          <p:cNvSpPr/>
          <p:nvPr/>
        </p:nvSpPr>
        <p:spPr>
          <a:xfrm>
            <a:off x="685800" y="1417320"/>
            <a:ext cx="10816920" cy="388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8" name="Picture 5" descr="bert_tinybert_f1.png"/>
          <p:cNvPicPr/>
          <p:nvPr/>
        </p:nvPicPr>
        <p:blipFill>
          <a:blip r:embed="rId1"/>
          <a:stretch/>
        </p:blipFill>
        <p:spPr>
          <a:xfrm rot="21596400">
            <a:off x="2698920" y="1465920"/>
            <a:ext cx="6396840" cy="3833640"/>
          </a:xfrm>
          <a:prstGeom prst="rect">
            <a:avLst/>
          </a:prstGeom>
          <a:ln w="0">
            <a:noFill/>
          </a:ln>
        </p:spPr>
      </p:pic>
      <p:sp>
        <p:nvSpPr>
          <p:cNvPr id="169" name="TextBox 6"/>
          <p:cNvSpPr/>
          <p:nvPr/>
        </p:nvSpPr>
        <p:spPr>
          <a:xfrm>
            <a:off x="822960" y="5532120"/>
            <a:ext cx="112741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374151"/>
                </a:solidFill>
                <a:latin typeface="Calibri"/>
              </a:rPr>
              <a:t>▸  </a:t>
            </a:r>
            <a:r>
              <a:rPr b="0" lang="en-US" sz="1500" spc="-1" strike="noStrike">
                <a:solidFill>
                  <a:srgbClr val="374151"/>
                </a:solidFill>
                <a:latin typeface="Calibri"/>
              </a:rPr>
              <a:t>mBERT je stabilen: F1 ≈ 0,954–0,956 pri vseh k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TextBox 7"/>
          <p:cNvSpPr/>
          <p:nvPr/>
        </p:nvSpPr>
        <p:spPr>
          <a:xfrm>
            <a:off x="822960" y="5943600"/>
            <a:ext cx="112741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374151"/>
                </a:solidFill>
                <a:latin typeface="Calibri"/>
              </a:rPr>
              <a:t>▸  </a:t>
            </a:r>
            <a:r>
              <a:rPr b="0" lang="en-US" sz="1500" spc="-1" strike="noStrike">
                <a:solidFill>
                  <a:srgbClr val="374151"/>
                </a:solidFill>
                <a:latin typeface="Calibri"/>
              </a:rPr>
              <a:t>TinyBERT je ne-monoton: padec pri k=10 in k=200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TextBox 8"/>
          <p:cNvSpPr/>
          <p:nvPr/>
        </p:nvSpPr>
        <p:spPr>
          <a:xfrm>
            <a:off x="822960" y="6355080"/>
            <a:ext cx="112741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374151"/>
                </a:solidFill>
                <a:latin typeface="Calibri"/>
              </a:rPr>
              <a:t>▸  </a:t>
            </a:r>
            <a:r>
              <a:rPr b="0" lang="en-US" sz="1500" spc="-1" strike="noStrike">
                <a:solidFill>
                  <a:srgbClr val="374151"/>
                </a:solidFill>
                <a:latin typeface="Calibri"/>
              </a:rPr>
              <a:t>Najboljši TinyBERT v našem testu: k=0 (0,8906) ali k=100 (0,8888)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Rectangle 1"/>
          <p:cNvSpPr/>
          <p:nvPr/>
        </p:nvSpPr>
        <p:spPr>
          <a:xfrm>
            <a:off x="640080" y="411480"/>
            <a:ext cx="10908360" cy="685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3" name="TextBox 2"/>
          <p:cNvSpPr/>
          <p:nvPr/>
        </p:nvSpPr>
        <p:spPr>
          <a:xfrm>
            <a:off x="822960" y="484560"/>
            <a:ext cx="105426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111827"/>
                </a:solidFill>
                <a:latin typeface="Calibri"/>
              </a:rPr>
              <a:t>Zakaj se F1 spreminja? (natančnost proti priklicu)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Rectangle 3"/>
          <p:cNvSpPr/>
          <p:nvPr/>
        </p:nvSpPr>
        <p:spPr>
          <a:xfrm>
            <a:off x="640080" y="1124640"/>
            <a:ext cx="10908360" cy="4536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5" name="Rectangle 4"/>
          <p:cNvSpPr/>
          <p:nvPr/>
        </p:nvSpPr>
        <p:spPr>
          <a:xfrm>
            <a:off x="685800" y="1417320"/>
            <a:ext cx="5440320" cy="388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6" name="Rectangle 5"/>
          <p:cNvSpPr/>
          <p:nvPr/>
        </p:nvSpPr>
        <p:spPr>
          <a:xfrm>
            <a:off x="6080760" y="1417320"/>
            <a:ext cx="5440320" cy="388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7" name="Picture 6" descr="bert_tinybert_precision.png"/>
          <p:cNvPicPr/>
          <p:nvPr/>
        </p:nvPicPr>
        <p:blipFill>
          <a:blip r:embed="rId1"/>
          <a:stretch/>
        </p:blipFill>
        <p:spPr>
          <a:xfrm>
            <a:off x="777240" y="1508760"/>
            <a:ext cx="5257440" cy="3154320"/>
          </a:xfrm>
          <a:prstGeom prst="rect">
            <a:avLst/>
          </a:prstGeom>
          <a:ln w="0">
            <a:noFill/>
          </a:ln>
        </p:spPr>
      </p:pic>
      <p:pic>
        <p:nvPicPr>
          <p:cNvPr id="178" name="Picture 7" descr="bert_tinybert_recall.png"/>
          <p:cNvPicPr/>
          <p:nvPr/>
        </p:nvPicPr>
        <p:blipFill>
          <a:blip r:embed="rId2"/>
          <a:stretch/>
        </p:blipFill>
        <p:spPr>
          <a:xfrm>
            <a:off x="6172200" y="1508760"/>
            <a:ext cx="5257440" cy="3154320"/>
          </a:xfrm>
          <a:prstGeom prst="rect">
            <a:avLst/>
          </a:prstGeom>
          <a:ln w="0">
            <a:noFill/>
          </a:ln>
        </p:spPr>
      </p:pic>
      <p:sp>
        <p:nvSpPr>
          <p:cNvPr id="179" name="TextBox 8"/>
          <p:cNvSpPr/>
          <p:nvPr/>
        </p:nvSpPr>
        <p:spPr>
          <a:xfrm>
            <a:off x="822960" y="5532120"/>
            <a:ext cx="112741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374151"/>
                </a:solidFill>
                <a:latin typeface="Calibri"/>
              </a:rPr>
              <a:t>▸  </a:t>
            </a:r>
            <a:r>
              <a:rPr b="0" lang="en-US" sz="1500" spc="-1" strike="noStrike">
                <a:solidFill>
                  <a:srgbClr val="374151"/>
                </a:solidFill>
                <a:latin typeface="Calibri"/>
              </a:rPr>
              <a:t>TinyBERT pri k=10: zelo visoka natančnost (0,9625), a nizek priklic (0,7589)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TextBox 9"/>
          <p:cNvSpPr/>
          <p:nvPr/>
        </p:nvSpPr>
        <p:spPr>
          <a:xfrm>
            <a:off x="822960" y="5943600"/>
            <a:ext cx="112741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374151"/>
                </a:solidFill>
                <a:latin typeface="Calibri"/>
              </a:rPr>
              <a:t>▸  </a:t>
            </a:r>
            <a:r>
              <a:rPr b="0" lang="en-US" sz="1500" spc="-1" strike="noStrike">
                <a:solidFill>
                  <a:srgbClr val="374151"/>
                </a:solidFill>
                <a:latin typeface="Calibri"/>
              </a:rPr>
              <a:t>Za F1 je ključno ravnotežje — precision sam po sebi ni dovolj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Rectangle 1"/>
          <p:cNvSpPr/>
          <p:nvPr/>
        </p:nvSpPr>
        <p:spPr>
          <a:xfrm>
            <a:off x="640080" y="411480"/>
            <a:ext cx="10908360" cy="685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2" name="TextBox 2"/>
          <p:cNvSpPr/>
          <p:nvPr/>
        </p:nvSpPr>
        <p:spPr>
          <a:xfrm>
            <a:off x="822960" y="484560"/>
            <a:ext cx="105426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111827"/>
                </a:solidFill>
                <a:latin typeface="Calibri"/>
              </a:rPr>
              <a:t>Matrika zmedenosti TinyBERT: k=10 vs k=100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Rectangle 3"/>
          <p:cNvSpPr/>
          <p:nvPr/>
        </p:nvSpPr>
        <p:spPr>
          <a:xfrm>
            <a:off x="640080" y="1124640"/>
            <a:ext cx="10908360" cy="4536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4" name="Rectangle 4"/>
          <p:cNvSpPr/>
          <p:nvPr/>
        </p:nvSpPr>
        <p:spPr>
          <a:xfrm>
            <a:off x="685800" y="1417320"/>
            <a:ext cx="5440320" cy="388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5" name="Rectangle 5"/>
          <p:cNvSpPr/>
          <p:nvPr/>
        </p:nvSpPr>
        <p:spPr>
          <a:xfrm>
            <a:off x="6080760" y="1417320"/>
            <a:ext cx="5440320" cy="388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86" name="Picture 6" descr="confusion_matrix.png"/>
          <p:cNvPicPr/>
          <p:nvPr/>
        </p:nvPicPr>
        <p:blipFill>
          <a:blip r:embed="rId1"/>
          <a:stretch/>
        </p:blipFill>
        <p:spPr>
          <a:xfrm>
            <a:off x="777240" y="1508760"/>
            <a:ext cx="5257440" cy="4205880"/>
          </a:xfrm>
          <a:prstGeom prst="rect">
            <a:avLst/>
          </a:prstGeom>
          <a:ln w="0">
            <a:noFill/>
          </a:ln>
        </p:spPr>
      </p:pic>
      <p:pic>
        <p:nvPicPr>
          <p:cNvPr id="187" name="Picture 7" descr="confusion_matrix.png"/>
          <p:cNvPicPr/>
          <p:nvPr/>
        </p:nvPicPr>
        <p:blipFill>
          <a:blip r:embed="rId2"/>
          <a:stretch/>
        </p:blipFill>
        <p:spPr>
          <a:xfrm>
            <a:off x="6172200" y="1508760"/>
            <a:ext cx="5257440" cy="4205880"/>
          </a:xfrm>
          <a:prstGeom prst="rect">
            <a:avLst/>
          </a:prstGeom>
          <a:ln w="0">
            <a:noFill/>
          </a:ln>
        </p:spPr>
      </p:pic>
      <p:sp>
        <p:nvSpPr>
          <p:cNvPr id="188" name="TextBox 8"/>
          <p:cNvSpPr/>
          <p:nvPr/>
        </p:nvSpPr>
        <p:spPr>
          <a:xfrm>
            <a:off x="822960" y="5532120"/>
            <a:ext cx="112741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374151"/>
                </a:solidFill>
                <a:latin typeface="Calibri"/>
              </a:rPr>
              <a:t>▸  </a:t>
            </a:r>
            <a:r>
              <a:rPr b="0" lang="en-US" sz="1500" spc="-1" strike="noStrike">
                <a:solidFill>
                  <a:srgbClr val="374151"/>
                </a:solidFill>
                <a:latin typeface="Calibri"/>
              </a:rPr>
              <a:t>k=10: FP=61, FN=497 → model spregleda veliko spama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Box 9"/>
          <p:cNvSpPr/>
          <p:nvPr/>
        </p:nvSpPr>
        <p:spPr>
          <a:xfrm>
            <a:off x="822960" y="5943600"/>
            <a:ext cx="112741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374151"/>
                </a:solidFill>
                <a:latin typeface="Calibri"/>
              </a:rPr>
              <a:t>▸  </a:t>
            </a:r>
            <a:r>
              <a:rPr b="0" lang="en-US" sz="1500" spc="-1" strike="noStrike">
                <a:solidFill>
                  <a:srgbClr val="374151"/>
                </a:solidFill>
                <a:latin typeface="Calibri"/>
              </a:rPr>
              <a:t>k=100: FN pade na 299 (manj spregledanega spama) → F1 se izboljša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Rectangle 1"/>
          <p:cNvSpPr/>
          <p:nvPr/>
        </p:nvSpPr>
        <p:spPr>
          <a:xfrm>
            <a:off x="640080" y="411480"/>
            <a:ext cx="10908360" cy="685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1" name="TextBox 2"/>
          <p:cNvSpPr/>
          <p:nvPr/>
        </p:nvSpPr>
        <p:spPr>
          <a:xfrm>
            <a:off x="822960" y="484560"/>
            <a:ext cx="105426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111827"/>
                </a:solidFill>
                <a:latin typeface="Calibri"/>
              </a:rPr>
              <a:t>Zero-shot (EN→SL): mBERT vs TinyBERT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Rectangle 3"/>
          <p:cNvSpPr/>
          <p:nvPr/>
        </p:nvSpPr>
        <p:spPr>
          <a:xfrm>
            <a:off x="640080" y="1124640"/>
            <a:ext cx="10908360" cy="4536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3" name="Rectangle 4"/>
          <p:cNvSpPr/>
          <p:nvPr/>
        </p:nvSpPr>
        <p:spPr>
          <a:xfrm>
            <a:off x="685800" y="1417320"/>
            <a:ext cx="5440320" cy="388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4" name="Rectangle 5"/>
          <p:cNvSpPr/>
          <p:nvPr/>
        </p:nvSpPr>
        <p:spPr>
          <a:xfrm>
            <a:off x="6080760" y="1417320"/>
            <a:ext cx="5440320" cy="388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95" name="Picture 6" descr="confusion_matrix.png"/>
          <p:cNvPicPr/>
          <p:nvPr/>
        </p:nvPicPr>
        <p:blipFill>
          <a:blip r:embed="rId1"/>
          <a:stretch/>
        </p:blipFill>
        <p:spPr>
          <a:xfrm>
            <a:off x="777240" y="1508760"/>
            <a:ext cx="5257440" cy="4205880"/>
          </a:xfrm>
          <a:prstGeom prst="rect">
            <a:avLst/>
          </a:prstGeom>
          <a:ln w="0">
            <a:noFill/>
          </a:ln>
        </p:spPr>
      </p:pic>
      <p:pic>
        <p:nvPicPr>
          <p:cNvPr id="196" name="Picture 7" descr="confusion_matrix.png"/>
          <p:cNvPicPr/>
          <p:nvPr/>
        </p:nvPicPr>
        <p:blipFill>
          <a:blip r:embed="rId2"/>
          <a:stretch/>
        </p:blipFill>
        <p:spPr>
          <a:xfrm>
            <a:off x="6172200" y="1508760"/>
            <a:ext cx="5257440" cy="4205880"/>
          </a:xfrm>
          <a:prstGeom prst="rect">
            <a:avLst/>
          </a:prstGeom>
          <a:ln w="0">
            <a:noFill/>
          </a:ln>
        </p:spPr>
      </p:pic>
      <p:sp>
        <p:nvSpPr>
          <p:cNvPr id="197" name="TextBox 8"/>
          <p:cNvSpPr/>
          <p:nvPr/>
        </p:nvSpPr>
        <p:spPr>
          <a:xfrm>
            <a:off x="822960" y="5532120"/>
            <a:ext cx="112741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374151"/>
                </a:solidFill>
                <a:latin typeface="Calibri"/>
              </a:rPr>
              <a:t>▸  </a:t>
            </a:r>
            <a:r>
              <a:rPr b="0" lang="en-US" sz="1500" spc="-1" strike="noStrike">
                <a:solidFill>
                  <a:srgbClr val="374151"/>
                </a:solidFill>
                <a:latin typeface="Calibri"/>
              </a:rPr>
              <a:t>mBERT: FP=87, FN=99 → uravnotežena natančnost in priklic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TextBox 9"/>
          <p:cNvSpPr/>
          <p:nvPr/>
        </p:nvSpPr>
        <p:spPr>
          <a:xfrm>
            <a:off x="822960" y="5943600"/>
            <a:ext cx="112741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374151"/>
                </a:solidFill>
                <a:latin typeface="Calibri"/>
              </a:rPr>
              <a:t>▸  </a:t>
            </a:r>
            <a:r>
              <a:rPr b="0" lang="en-US" sz="1500" spc="-1" strike="noStrike">
                <a:solidFill>
                  <a:srgbClr val="374151"/>
                </a:solidFill>
                <a:latin typeface="Calibri"/>
              </a:rPr>
              <a:t>TinyBERT: FP=155, FN=282 → več spama se izgubi (nižji priklic)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Rectangle 1"/>
          <p:cNvSpPr/>
          <p:nvPr/>
        </p:nvSpPr>
        <p:spPr>
          <a:xfrm>
            <a:off x="640080" y="411480"/>
            <a:ext cx="10908360" cy="685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0" name="TextBox 2"/>
          <p:cNvSpPr/>
          <p:nvPr/>
        </p:nvSpPr>
        <p:spPr>
          <a:xfrm>
            <a:off x="822960" y="484560"/>
            <a:ext cx="105426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111827"/>
                </a:solidFill>
                <a:latin typeface="Calibri"/>
              </a:rPr>
              <a:t>Praktične implikacije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Rectangle 3"/>
          <p:cNvSpPr/>
          <p:nvPr/>
        </p:nvSpPr>
        <p:spPr>
          <a:xfrm>
            <a:off x="640080" y="1124640"/>
            <a:ext cx="10908360" cy="4536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2" name="Rectangle 4"/>
          <p:cNvSpPr/>
          <p:nvPr/>
        </p:nvSpPr>
        <p:spPr>
          <a:xfrm>
            <a:off x="685800" y="1371600"/>
            <a:ext cx="5316840" cy="502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3" name="Rectangle 5"/>
          <p:cNvSpPr/>
          <p:nvPr/>
        </p:nvSpPr>
        <p:spPr>
          <a:xfrm>
            <a:off x="685800" y="1371600"/>
            <a:ext cx="109440" cy="50256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4" name="TextBox 6"/>
          <p:cNvSpPr/>
          <p:nvPr/>
        </p:nvSpPr>
        <p:spPr>
          <a:xfrm>
            <a:off x="850320" y="1444680"/>
            <a:ext cx="509760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111827"/>
                </a:solidFill>
                <a:latin typeface="Calibri"/>
              </a:rPr>
              <a:t>mBERT (110M)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TextBox 7"/>
          <p:cNvSpPr/>
          <p:nvPr/>
        </p:nvSpPr>
        <p:spPr>
          <a:xfrm>
            <a:off x="685800" y="1965960"/>
            <a:ext cx="531684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1d4ed8"/>
                </a:solidFill>
                <a:latin typeface="Calibri"/>
              </a:rPr>
              <a:t>▸  </a:t>
            </a:r>
            <a:r>
              <a:rPr b="0" lang="en-US" sz="1700" spc="-1" strike="noStrike">
                <a:solidFill>
                  <a:srgbClr val="374151"/>
                </a:solidFill>
                <a:latin typeface="Calibri"/>
              </a:rPr>
              <a:t>Idealen za splošno rabo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TextBox 8"/>
          <p:cNvSpPr/>
          <p:nvPr/>
        </p:nvSpPr>
        <p:spPr>
          <a:xfrm>
            <a:off x="685800" y="2514600"/>
            <a:ext cx="531684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1d4ed8"/>
                </a:solidFill>
                <a:latin typeface="Calibri"/>
              </a:rPr>
              <a:t>▸  </a:t>
            </a:r>
            <a:r>
              <a:rPr b="0" lang="en-US" sz="1700" spc="-1" strike="noStrike">
                <a:solidFill>
                  <a:srgbClr val="374151"/>
                </a:solidFill>
                <a:latin typeface="Calibri"/>
              </a:rPr>
              <a:t>Visoka zmogljivost brez slov. podatkov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TextBox 9"/>
          <p:cNvSpPr/>
          <p:nvPr/>
        </p:nvSpPr>
        <p:spPr>
          <a:xfrm>
            <a:off x="685800" y="3063240"/>
            <a:ext cx="531684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1d4ed8"/>
                </a:solidFill>
                <a:latin typeface="Calibri"/>
              </a:rPr>
              <a:t>▸  </a:t>
            </a:r>
            <a:r>
              <a:rPr b="0" lang="en-US" sz="1700" spc="-1" strike="noStrike">
                <a:solidFill>
                  <a:srgbClr val="374151"/>
                </a:solidFill>
                <a:latin typeface="Calibri"/>
              </a:rPr>
              <a:t>Hitro uvajanje v novih jezikih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TextBox 10"/>
          <p:cNvSpPr/>
          <p:nvPr/>
        </p:nvSpPr>
        <p:spPr>
          <a:xfrm>
            <a:off x="685800" y="3611880"/>
            <a:ext cx="531684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1d4ed8"/>
                </a:solidFill>
                <a:latin typeface="Calibri"/>
              </a:rPr>
              <a:t>▸  </a:t>
            </a:r>
            <a:r>
              <a:rPr b="0" lang="en-US" sz="1700" spc="-1" strike="noStrike">
                <a:solidFill>
                  <a:srgbClr val="374151"/>
                </a:solidFill>
                <a:latin typeface="Calibri"/>
              </a:rPr>
              <a:t>Zero-shot pristop pogosto zadošča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TextBox 11"/>
          <p:cNvSpPr/>
          <p:nvPr/>
        </p:nvSpPr>
        <p:spPr>
          <a:xfrm>
            <a:off x="685800" y="4160520"/>
            <a:ext cx="531684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1d4ed8"/>
                </a:solidFill>
                <a:latin typeface="Calibri"/>
              </a:rPr>
              <a:t>▸  </a:t>
            </a:r>
            <a:r>
              <a:rPr b="0" lang="en-US" sz="1700" spc="-1" strike="noStrike">
                <a:solidFill>
                  <a:srgbClr val="374151"/>
                </a:solidFill>
                <a:latin typeface="Calibri"/>
              </a:rPr>
              <a:t>Few-shot prinese le minimalne spremembe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Rectangle 12"/>
          <p:cNvSpPr/>
          <p:nvPr/>
        </p:nvSpPr>
        <p:spPr>
          <a:xfrm>
            <a:off x="6185880" y="1371600"/>
            <a:ext cx="5316840" cy="502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1" name="Rectangle 13"/>
          <p:cNvSpPr/>
          <p:nvPr/>
        </p:nvSpPr>
        <p:spPr>
          <a:xfrm>
            <a:off x="6185880" y="1371600"/>
            <a:ext cx="109440" cy="50256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2" name="TextBox 14"/>
          <p:cNvSpPr/>
          <p:nvPr/>
        </p:nvSpPr>
        <p:spPr>
          <a:xfrm>
            <a:off x="6350400" y="1444680"/>
            <a:ext cx="509760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111827"/>
                </a:solidFill>
                <a:latin typeface="Calibri"/>
              </a:rPr>
              <a:t>TinyBERT (15M)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TextBox 15"/>
          <p:cNvSpPr/>
          <p:nvPr/>
        </p:nvSpPr>
        <p:spPr>
          <a:xfrm>
            <a:off x="6185880" y="1965960"/>
            <a:ext cx="531684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1d4ed8"/>
                </a:solidFill>
                <a:latin typeface="Calibri"/>
              </a:rPr>
              <a:t>▸  </a:t>
            </a:r>
            <a:r>
              <a:rPr b="0" lang="en-US" sz="1700" spc="-1" strike="noStrike">
                <a:solidFill>
                  <a:srgbClr val="374151"/>
                </a:solidFill>
                <a:latin typeface="Calibri"/>
              </a:rPr>
              <a:t>Primeren za mobilne naprave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TextBox 16"/>
          <p:cNvSpPr/>
          <p:nvPr/>
        </p:nvSpPr>
        <p:spPr>
          <a:xfrm>
            <a:off x="6185880" y="2514600"/>
            <a:ext cx="531684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1d4ed8"/>
                </a:solidFill>
                <a:latin typeface="Calibri"/>
              </a:rPr>
              <a:t>▸  </a:t>
            </a:r>
            <a:r>
              <a:rPr b="0" lang="en-US" sz="1700" spc="-1" strike="noStrike">
                <a:solidFill>
                  <a:srgbClr val="374151"/>
                </a:solidFill>
                <a:latin typeface="Calibri"/>
              </a:rPr>
              <a:t>Lokalna obdelava – zasebnost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Box 17"/>
          <p:cNvSpPr/>
          <p:nvPr/>
        </p:nvSpPr>
        <p:spPr>
          <a:xfrm>
            <a:off x="6185880" y="3063240"/>
            <a:ext cx="531684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1d4ed8"/>
                </a:solidFill>
                <a:latin typeface="Calibri"/>
              </a:rPr>
              <a:t>▸  </a:t>
            </a:r>
            <a:r>
              <a:rPr b="0" lang="en-US" sz="1700" spc="-1" strike="noStrike">
                <a:solidFill>
                  <a:srgbClr val="374151"/>
                </a:solidFill>
                <a:latin typeface="Calibri"/>
              </a:rPr>
              <a:t>Deluje brez internetne povezave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TextBox 18"/>
          <p:cNvSpPr/>
          <p:nvPr/>
        </p:nvSpPr>
        <p:spPr>
          <a:xfrm>
            <a:off x="6185880" y="3611880"/>
            <a:ext cx="531684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1d4ed8"/>
                </a:solidFill>
                <a:latin typeface="Calibri"/>
              </a:rPr>
              <a:t>▸  </a:t>
            </a:r>
            <a:r>
              <a:rPr b="0" lang="en-US" sz="1700" spc="-1" strike="noStrike">
                <a:solidFill>
                  <a:srgbClr val="374151"/>
                </a:solidFill>
                <a:latin typeface="Calibri"/>
              </a:rPr>
              <a:t>Few-shot zahteva previdno validacijo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TextBox 19"/>
          <p:cNvSpPr/>
          <p:nvPr/>
        </p:nvSpPr>
        <p:spPr>
          <a:xfrm>
            <a:off x="6185880" y="4160520"/>
            <a:ext cx="531684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1d4ed8"/>
                </a:solidFill>
                <a:latin typeface="Calibri"/>
              </a:rPr>
              <a:t>▸  </a:t>
            </a:r>
            <a:r>
              <a:rPr b="0" lang="en-US" sz="1700" spc="-1" strike="noStrike">
                <a:solidFill>
                  <a:srgbClr val="374151"/>
                </a:solidFill>
                <a:latin typeface="Calibri"/>
              </a:rPr>
              <a:t>k≈50–100 je v našem testu najbolj stabilen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Rectangle 1"/>
          <p:cNvSpPr/>
          <p:nvPr/>
        </p:nvSpPr>
        <p:spPr>
          <a:xfrm>
            <a:off x="640080" y="594360"/>
            <a:ext cx="10908360" cy="5436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9" name="Rectangle 2"/>
          <p:cNvSpPr/>
          <p:nvPr/>
        </p:nvSpPr>
        <p:spPr>
          <a:xfrm>
            <a:off x="640080" y="1097280"/>
            <a:ext cx="10908360" cy="484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0" name="TextBox 3"/>
          <p:cNvSpPr/>
          <p:nvPr/>
        </p:nvSpPr>
        <p:spPr>
          <a:xfrm>
            <a:off x="868680" y="1280160"/>
            <a:ext cx="10451160" cy="7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4400" spc="-1" strike="noStrike">
                <a:solidFill>
                  <a:srgbClr val="111827"/>
                </a:solidFill>
                <a:latin typeface="Calibri"/>
              </a:rPr>
              <a:t>Hvala za pozornost!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TextBox 8"/>
          <p:cNvSpPr/>
          <p:nvPr/>
        </p:nvSpPr>
        <p:spPr>
          <a:xfrm>
            <a:off x="914400" y="2286000"/>
            <a:ext cx="493740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111827"/>
                </a:solidFill>
                <a:latin typeface="Calibri"/>
              </a:rPr>
              <a:t>Vprašanja?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TextBox 9"/>
          <p:cNvSpPr/>
          <p:nvPr/>
        </p:nvSpPr>
        <p:spPr>
          <a:xfrm>
            <a:off x="914400" y="2057400"/>
            <a:ext cx="49374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374151"/>
                </a:solidFill>
                <a:latin typeface="Calibri"/>
              </a:rPr>
              <a:t>Koda in podatki: github.com/Asos75/SV1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2026-05-27T19:47:16Z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