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66CEBC-68A4-4EA7-BFF8-AB6EF35AFA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97088B-70A3-4599-9BDB-59C0FDC855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6EB3861-B2BE-49E6-A332-B279BA8879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1B4D910-CD3B-4D85-9A63-C917F6F96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F12F245-A5F8-403B-A73C-165CB9F6FD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534A4F9-291B-4D85-9284-6A64852693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C9183A7-2607-43A0-B2E7-B77300A1ED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682A4E4-C2B3-47D6-8E17-0C0FBDD86E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E6F2A2B-1A02-4915-84D4-DADB04BE59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5BD6685-337A-45B3-8130-C716F9B4E1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0D6785F-D52D-48CD-9AD9-412C43C176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D668E4-F349-43E4-A467-EA5036C41A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1A0A96-8241-40C3-9783-4CFF0F0206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43B55F-637A-4CF8-8B85-4FE8B825CE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B2ABD0-2FCF-4891-A22D-15BF3B14FC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C84C82-7087-42AE-8F75-989E8EE2C7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4A5D70-0271-485B-9107-E8596A5DC0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DF8A0D-5B70-4B04-9CBF-01834E03E36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56DFE3-A48B-456B-BA3F-4C89998501C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E66946-C668-432F-929F-A5451AD02D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FDB70C-DE56-4B95-8ED4-C0A64EFFBA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494A1B-D801-4921-A7BB-D6F475DD56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640080" y="594360"/>
            <a:ext cx="1090836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640080" y="1234440"/>
            <a:ext cx="10908360" cy="292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1508760"/>
            <a:ext cx="103597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11827"/>
                </a:solidFill>
                <a:latin typeface="Calibri"/>
              </a:rPr>
              <a:t>Klasifikacija neželenih SMS sporočil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914400" y="2514600"/>
            <a:ext cx="1035972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374151"/>
                </a:solidFill>
                <a:latin typeface="Calibri"/>
              </a:rPr>
              <a:t>Večjezični transformatorski modeli: mBERT in TinyBERT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3337560"/>
            <a:ext cx="103597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</a:rPr>
              <a:t>David Krajnc • David Lipavec • Matija Pajenk • Andraž Šošterič • Tadej Teršek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14400" y="3794760"/>
            <a:ext cx="10359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374151"/>
                </a:solidFill>
                <a:latin typeface="Calibri"/>
              </a:rPr>
              <a:t>FERI, Univerza v Mariboru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Zakaj je detekcija SMS spama pomembna?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822960" y="141732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5,28 milijarde uporabnikov mobilnih telefonov (2025)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822960" y="194760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~25 milijard SMS sporočil dnevno — velik del je spam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822960" y="247788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d97706"/>
                </a:solidFill>
                <a:latin typeface="Calibri"/>
              </a:rPr>
              <a:t>SMS spam se razlikuje od e-poštnega spama: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1234440" y="3008520"/>
            <a:ext cx="10131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Bistveno krajša sporočila → manj konteksta za model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1234440" y="3429000"/>
            <a:ext cx="10131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Neformalni jezik, kratice, emojiji, namerne napake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1234440" y="3849480"/>
            <a:ext cx="10131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Mobilno-specifične lastnosti (tel. številke, čas pošiljanja)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822960" y="427032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d97706"/>
                </a:solidFill>
                <a:latin typeface="Calibri"/>
              </a:rPr>
              <a:t>Modeli za e-pošto niso neposredno prenosljivi na SMS domeno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822960" y="480060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111827"/>
                </a:solidFill>
                <a:latin typeface="Calibri"/>
              </a:rPr>
              <a:t>Cilj: učinkovita detekcija v slovenščini brez namenskih slov. podatkov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Pregled sorodnih del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822960" y="141732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Zgodnejši pristopi – ne-vsebinske lastnosti (metapodatki, SVM)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822960" y="194760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Spam Transformer: mehanizem pozornosti za kratka besedila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822960" y="247788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mBERT– prednaučen na 100+ jezikih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822960" y="300852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d97706"/>
                </a:solidFill>
                <a:latin typeface="Calibri"/>
              </a:rPr>
              <a:t>Inturi et al. (2025): zero-shot prenos EN → hindijščina/telugu/bengalščina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822960" y="353880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XLM-R, mBERT – medjezikovni prenos znanja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822960" y="406908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TinyBERT – destilacija znanja, 15M param., mobilne naprave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22960" y="459936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374151"/>
                </a:solidFill>
                <a:latin typeface="Calibri"/>
              </a:rPr>
              <a:t>TYMBERT – kvantiziran model, samo 27,4 MB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822960" y="5129640"/>
            <a:ext cx="105426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000" spc="-1" strike="noStrike">
                <a:solidFill>
                  <a:srgbClr val="111827"/>
                </a:solidFill>
                <a:latin typeface="Calibri"/>
              </a:rPr>
              <a:t>Naša razširitev: dodamo slovenščino in TinyBERT v primerjavo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Naša ideja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685800" y="1371600"/>
            <a:ext cx="531684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685800" y="1371600"/>
            <a:ext cx="10944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850320" y="1444680"/>
            <a:ext cx="5097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Pristop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685800" y="196596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Replikacija in nadgradnja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685800" y="251460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mBERT (110M param.) – splošna raba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685800" y="306324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TinyBERT (15M param.) – mobilne naprave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685800" y="361188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Jezikovni par: angleščina → slovenščina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685800" y="416052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Zero-shot: brez slovenskih učnih podatkov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685800" y="470916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Few-shot: prilagoditev z majhnim 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13"/>
          <p:cNvSpPr/>
          <p:nvPr/>
        </p:nvSpPr>
        <p:spPr>
          <a:xfrm>
            <a:off x="6185880" y="1371600"/>
            <a:ext cx="531684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ectangle 14"/>
          <p:cNvSpPr/>
          <p:nvPr/>
        </p:nvSpPr>
        <p:spPr>
          <a:xfrm>
            <a:off x="6185880" y="1371600"/>
            <a:ext cx="10944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6350400" y="1444680"/>
            <a:ext cx="5097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Motivacija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6185880" y="196596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Zasebnost: lokalna obdelava na telefonu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6185880" y="251460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Odzivnost brez internetne povezave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8"/>
          <p:cNvSpPr/>
          <p:nvPr/>
        </p:nvSpPr>
        <p:spPr>
          <a:xfrm>
            <a:off x="6185880" y="306324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Energetska učinkovitost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19"/>
          <p:cNvSpPr/>
          <p:nvPr/>
        </p:nvSpPr>
        <p:spPr>
          <a:xfrm>
            <a:off x="6185880" y="361188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20"/>
          <p:cNvSpPr/>
          <p:nvPr/>
        </p:nvSpPr>
        <p:spPr>
          <a:xfrm>
            <a:off x="6172200" y="361188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Manj zastopani jeziki (SL)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6172200" y="411480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Kompromis: zmogljivost vs. velikost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Metodologija: podatki in postavitev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822960" y="1417320"/>
            <a:ext cx="10542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100" spc="-1" strike="noStrike">
                <a:solidFill>
                  <a:srgbClr val="d97706"/>
                </a:solidFill>
                <a:latin typeface="Calibri"/>
              </a:rPr>
              <a:t>Nabori podatkov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1234440" y="1947600"/>
            <a:ext cx="1013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Angleški nabor: 55 404 SMS sporočil (ham / spam), javno dostopen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1234440" y="2368440"/>
            <a:ext cx="1013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Slovenski nabor: strojni prevod + ročno označevanje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1234440" y="2788920"/>
            <a:ext cx="1013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Delitev: 80 % učna | 10 % validacijska | 10 % testna (seed=42)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822960" y="3209400"/>
            <a:ext cx="10542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1" lang="en-US" sz="2100" spc="-1" strike="noStrike">
                <a:solidFill>
                  <a:srgbClr val="d97706"/>
                </a:solidFill>
                <a:latin typeface="Calibri"/>
              </a:rPr>
              <a:t>Eksperimentalni scenariji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1234440" y="3740040"/>
            <a:ext cx="1013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EN → EN: referenčna zgornja meja zmogljivosti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1234440" y="4160520"/>
            <a:ext cx="1013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EN → SL (zero-shot): model naučen samo na angleščini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11"/>
          <p:cNvSpPr/>
          <p:nvPr/>
        </p:nvSpPr>
        <p:spPr>
          <a:xfrm>
            <a:off x="1234440" y="4581000"/>
            <a:ext cx="10131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EN → SL + k (few-shot): k ∈ {10, 50, 100, 200} slov. primerov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2"/>
          <p:cNvSpPr/>
          <p:nvPr/>
        </p:nvSpPr>
        <p:spPr>
          <a:xfrm>
            <a:off x="822960" y="5001840"/>
            <a:ext cx="1054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Hiperparametri: Hitrost učenja = 2×10⁻⁵, 3 epohe, batch = 4 (8 pri few-shot)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3"/>
          <p:cNvSpPr/>
          <p:nvPr/>
        </p:nvSpPr>
        <p:spPr>
          <a:xfrm>
            <a:off x="822960" y="5422320"/>
            <a:ext cx="10542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800" spc="-1" strike="noStrike">
                <a:solidFill>
                  <a:srgbClr val="374151"/>
                </a:solidFill>
                <a:latin typeface="Calibri"/>
              </a:rPr>
              <a:t>Metrike: točnost, natančnost, priklic, F1 (pozitivni razred = spam)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Rezultati: Zero-shot (EN → SL)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4"/>
          <p:cNvSpPr/>
          <p:nvPr/>
        </p:nvSpPr>
        <p:spPr>
          <a:xfrm>
            <a:off x="640080" y="1234440"/>
            <a:ext cx="10725480" cy="187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5"/>
          <p:cNvSpPr/>
          <p:nvPr/>
        </p:nvSpPr>
        <p:spPr>
          <a:xfrm>
            <a:off x="822960" y="1417320"/>
            <a:ext cx="207180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868680" y="1472040"/>
            <a:ext cx="1980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 7"/>
          <p:cNvSpPr/>
          <p:nvPr/>
        </p:nvSpPr>
        <p:spPr>
          <a:xfrm>
            <a:off x="2895120" y="1417320"/>
            <a:ext cx="207180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2940840" y="1472040"/>
            <a:ext cx="1980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Točnost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9"/>
          <p:cNvSpPr/>
          <p:nvPr/>
        </p:nvSpPr>
        <p:spPr>
          <a:xfrm>
            <a:off x="4966920" y="1417320"/>
            <a:ext cx="207180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5012640" y="1472040"/>
            <a:ext cx="1980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Natančnost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 11"/>
          <p:cNvSpPr/>
          <p:nvPr/>
        </p:nvSpPr>
        <p:spPr>
          <a:xfrm>
            <a:off x="7039080" y="1417320"/>
            <a:ext cx="207180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7084800" y="1472040"/>
            <a:ext cx="1980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Priklic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13"/>
          <p:cNvSpPr/>
          <p:nvPr/>
        </p:nvSpPr>
        <p:spPr>
          <a:xfrm>
            <a:off x="9111240" y="1417320"/>
            <a:ext cx="207180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9156960" y="1472040"/>
            <a:ext cx="19803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F1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15"/>
          <p:cNvSpPr/>
          <p:nvPr/>
        </p:nvSpPr>
        <p:spPr>
          <a:xfrm>
            <a:off x="822960" y="1920240"/>
            <a:ext cx="2071800" cy="50256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868680" y="197496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mBERT (110M)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tangle 17"/>
          <p:cNvSpPr/>
          <p:nvPr/>
        </p:nvSpPr>
        <p:spPr>
          <a:xfrm>
            <a:off x="2895120" y="1920240"/>
            <a:ext cx="2071800" cy="50256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TextBox 18"/>
          <p:cNvSpPr/>
          <p:nvPr/>
        </p:nvSpPr>
        <p:spPr>
          <a:xfrm>
            <a:off x="2940840" y="197496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0,9664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19"/>
          <p:cNvSpPr/>
          <p:nvPr/>
        </p:nvSpPr>
        <p:spPr>
          <a:xfrm>
            <a:off x="4966920" y="1920240"/>
            <a:ext cx="2071800" cy="50256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0"/>
          <p:cNvSpPr/>
          <p:nvPr/>
        </p:nvSpPr>
        <p:spPr>
          <a:xfrm>
            <a:off x="5012640" y="197496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0,9575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 21"/>
          <p:cNvSpPr/>
          <p:nvPr/>
        </p:nvSpPr>
        <p:spPr>
          <a:xfrm>
            <a:off x="7039080" y="1920240"/>
            <a:ext cx="2071800" cy="50256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7084800" y="197496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0,9520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23"/>
          <p:cNvSpPr/>
          <p:nvPr/>
        </p:nvSpPr>
        <p:spPr>
          <a:xfrm>
            <a:off x="9111240" y="1920240"/>
            <a:ext cx="2071800" cy="502560"/>
          </a:xfrm>
          <a:prstGeom prst="rect">
            <a:avLst/>
          </a:prstGeom>
          <a:solidFill>
            <a:srgbClr val="f3f4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9156960" y="197496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0,9547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25"/>
          <p:cNvSpPr/>
          <p:nvPr/>
        </p:nvSpPr>
        <p:spPr>
          <a:xfrm>
            <a:off x="822960" y="2423160"/>
            <a:ext cx="207180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26"/>
          <p:cNvSpPr/>
          <p:nvPr/>
        </p:nvSpPr>
        <p:spPr>
          <a:xfrm>
            <a:off x="868680" y="247788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TinyBERT (15M)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 27"/>
          <p:cNvSpPr/>
          <p:nvPr/>
        </p:nvSpPr>
        <p:spPr>
          <a:xfrm>
            <a:off x="2895120" y="2423160"/>
            <a:ext cx="207180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TextBox 28"/>
          <p:cNvSpPr/>
          <p:nvPr/>
        </p:nvSpPr>
        <p:spPr>
          <a:xfrm>
            <a:off x="2940840" y="247788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0,9211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29"/>
          <p:cNvSpPr/>
          <p:nvPr/>
        </p:nvSpPr>
        <p:spPr>
          <a:xfrm>
            <a:off x="4966920" y="2423160"/>
            <a:ext cx="207180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30"/>
          <p:cNvSpPr/>
          <p:nvPr/>
        </p:nvSpPr>
        <p:spPr>
          <a:xfrm>
            <a:off x="5012640" y="247788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0,9199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 31"/>
          <p:cNvSpPr/>
          <p:nvPr/>
        </p:nvSpPr>
        <p:spPr>
          <a:xfrm>
            <a:off x="7039080" y="2423160"/>
            <a:ext cx="207180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32"/>
          <p:cNvSpPr/>
          <p:nvPr/>
        </p:nvSpPr>
        <p:spPr>
          <a:xfrm>
            <a:off x="7084800" y="247788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0,8632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33"/>
          <p:cNvSpPr/>
          <p:nvPr/>
        </p:nvSpPr>
        <p:spPr>
          <a:xfrm>
            <a:off x="9111240" y="2423160"/>
            <a:ext cx="2071800" cy="502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34"/>
          <p:cNvSpPr/>
          <p:nvPr/>
        </p:nvSpPr>
        <p:spPr>
          <a:xfrm>
            <a:off x="9156960" y="2477880"/>
            <a:ext cx="1980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11827"/>
                </a:solidFill>
                <a:latin typeface="Calibri"/>
              </a:rPr>
              <a:t>0,8906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5"/>
          <p:cNvSpPr/>
          <p:nvPr/>
        </p:nvSpPr>
        <p:spPr>
          <a:xfrm>
            <a:off x="822960" y="3063240"/>
            <a:ext cx="10359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374151"/>
                </a:solidFill>
                <a:latin typeface="Calibri"/>
              </a:rPr>
              <a:t>mBERT ohrani visoko F1 brez slovenskih učnih podatkov; TinyBERT ima nižji priklic in F1.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Few-shot primerjava: F1 glede na 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685800" y="1417320"/>
            <a:ext cx="10816920" cy="388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8" name="Picture 5" descr="bert_tinybert_f1.png"/>
          <p:cNvPicPr/>
          <p:nvPr/>
        </p:nvPicPr>
        <p:blipFill>
          <a:blip r:embed="rId1"/>
          <a:stretch/>
        </p:blipFill>
        <p:spPr>
          <a:xfrm rot="21596400">
            <a:off x="2698920" y="1465920"/>
            <a:ext cx="6396840" cy="3833640"/>
          </a:xfrm>
          <a:prstGeom prst="rect">
            <a:avLst/>
          </a:prstGeom>
          <a:ln w="0">
            <a:noFill/>
          </a:ln>
        </p:spPr>
      </p:pic>
      <p:sp>
        <p:nvSpPr>
          <p:cNvPr id="169" name="TextBox 6"/>
          <p:cNvSpPr/>
          <p:nvPr/>
        </p:nvSpPr>
        <p:spPr>
          <a:xfrm>
            <a:off x="822960" y="553212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mBERT je stabilen: F1 ≈ 0,954–0,956 pri vseh k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822960" y="594360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TinyBERT je ne-monoton: padec pri k=10 in k=200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822960" y="635508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Najboljši TinyBERT v našem testu: k=0 (0,8906) ali k=100 (0,8888)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Zakaj se F1 spreminja? (natančnost proti priklicu)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ectangle 4"/>
          <p:cNvSpPr/>
          <p:nvPr/>
        </p:nvSpPr>
        <p:spPr>
          <a:xfrm>
            <a:off x="685800" y="1417320"/>
            <a:ext cx="5440320" cy="388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ectangle 5"/>
          <p:cNvSpPr/>
          <p:nvPr/>
        </p:nvSpPr>
        <p:spPr>
          <a:xfrm>
            <a:off x="6080760" y="1417320"/>
            <a:ext cx="5440320" cy="388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7" name="Picture 6" descr="bert_tinybert_precision.png"/>
          <p:cNvPicPr/>
          <p:nvPr/>
        </p:nvPicPr>
        <p:blipFill>
          <a:blip r:embed="rId1"/>
          <a:stretch/>
        </p:blipFill>
        <p:spPr>
          <a:xfrm>
            <a:off x="777240" y="1508760"/>
            <a:ext cx="5257440" cy="3154320"/>
          </a:xfrm>
          <a:prstGeom prst="rect">
            <a:avLst/>
          </a:prstGeom>
          <a:ln w="0">
            <a:noFill/>
          </a:ln>
        </p:spPr>
      </p:pic>
      <p:pic>
        <p:nvPicPr>
          <p:cNvPr id="178" name="Picture 7" descr="bert_tinybert_recall.png"/>
          <p:cNvPicPr/>
          <p:nvPr/>
        </p:nvPicPr>
        <p:blipFill>
          <a:blip r:embed="rId2"/>
          <a:stretch/>
        </p:blipFill>
        <p:spPr>
          <a:xfrm>
            <a:off x="6172200" y="1508760"/>
            <a:ext cx="5257440" cy="3154320"/>
          </a:xfrm>
          <a:prstGeom prst="rect">
            <a:avLst/>
          </a:prstGeom>
          <a:ln w="0">
            <a:noFill/>
          </a:ln>
        </p:spPr>
      </p:pic>
      <p:sp>
        <p:nvSpPr>
          <p:cNvPr id="179" name="TextBox 8"/>
          <p:cNvSpPr/>
          <p:nvPr/>
        </p:nvSpPr>
        <p:spPr>
          <a:xfrm>
            <a:off x="822960" y="553212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TinyBERT pri k=10: zelo visoka natančnost (0,9625), a nizek priklic (0,7589)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9"/>
          <p:cNvSpPr/>
          <p:nvPr/>
        </p:nvSpPr>
        <p:spPr>
          <a:xfrm>
            <a:off x="822960" y="594360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Za F1 je ključno ravnotežje — precision sam po sebi ni dovolj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Matrika zmedenosti TinyBERT: k=10 vs k=100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4"/>
          <p:cNvSpPr/>
          <p:nvPr/>
        </p:nvSpPr>
        <p:spPr>
          <a:xfrm>
            <a:off x="685800" y="1417320"/>
            <a:ext cx="5440320" cy="388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Rectangle 5"/>
          <p:cNvSpPr/>
          <p:nvPr/>
        </p:nvSpPr>
        <p:spPr>
          <a:xfrm>
            <a:off x="6080760" y="1417320"/>
            <a:ext cx="5440320" cy="388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6" name="Picture 6" descr="confusion_matrix.png"/>
          <p:cNvPicPr/>
          <p:nvPr/>
        </p:nvPicPr>
        <p:blipFill>
          <a:blip r:embed="rId1"/>
          <a:stretch/>
        </p:blipFill>
        <p:spPr>
          <a:xfrm>
            <a:off x="777240" y="1508760"/>
            <a:ext cx="5257440" cy="4205880"/>
          </a:xfrm>
          <a:prstGeom prst="rect">
            <a:avLst/>
          </a:prstGeom>
          <a:ln w="0">
            <a:noFill/>
          </a:ln>
        </p:spPr>
      </p:pic>
      <p:pic>
        <p:nvPicPr>
          <p:cNvPr id="187" name="Picture 7" descr="confusion_matrix.png"/>
          <p:cNvPicPr/>
          <p:nvPr/>
        </p:nvPicPr>
        <p:blipFill>
          <a:blip r:embed="rId2"/>
          <a:stretch/>
        </p:blipFill>
        <p:spPr>
          <a:xfrm>
            <a:off x="6172200" y="1508760"/>
            <a:ext cx="5257440" cy="4205880"/>
          </a:xfrm>
          <a:prstGeom prst="rect">
            <a:avLst/>
          </a:prstGeom>
          <a:ln w="0">
            <a:noFill/>
          </a:ln>
        </p:spPr>
      </p:pic>
      <p:sp>
        <p:nvSpPr>
          <p:cNvPr id="188" name="TextBox 8"/>
          <p:cNvSpPr/>
          <p:nvPr/>
        </p:nvSpPr>
        <p:spPr>
          <a:xfrm>
            <a:off x="822960" y="553212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k=10: FP=61, FN=497 → model spregleda veliko spama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9"/>
          <p:cNvSpPr/>
          <p:nvPr/>
        </p:nvSpPr>
        <p:spPr>
          <a:xfrm>
            <a:off x="822960" y="594360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k=100: FN pade na 299 (manj spregledanega spama) → F1 se izboljša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Zero-shot (EN→SL): mBERT vs TinyBERT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ectangle 4"/>
          <p:cNvSpPr/>
          <p:nvPr/>
        </p:nvSpPr>
        <p:spPr>
          <a:xfrm>
            <a:off x="685800" y="1417320"/>
            <a:ext cx="5440320" cy="388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ectangle 5"/>
          <p:cNvSpPr/>
          <p:nvPr/>
        </p:nvSpPr>
        <p:spPr>
          <a:xfrm>
            <a:off x="6080760" y="1417320"/>
            <a:ext cx="5440320" cy="388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5" name="Picture 6" descr="confusion_matrix.png"/>
          <p:cNvPicPr/>
          <p:nvPr/>
        </p:nvPicPr>
        <p:blipFill>
          <a:blip r:embed="rId1"/>
          <a:stretch/>
        </p:blipFill>
        <p:spPr>
          <a:xfrm>
            <a:off x="777240" y="1508760"/>
            <a:ext cx="5257440" cy="4205880"/>
          </a:xfrm>
          <a:prstGeom prst="rect">
            <a:avLst/>
          </a:prstGeom>
          <a:ln w="0">
            <a:noFill/>
          </a:ln>
        </p:spPr>
      </p:pic>
      <p:pic>
        <p:nvPicPr>
          <p:cNvPr id="196" name="Picture 7" descr="confusion_matrix.png"/>
          <p:cNvPicPr/>
          <p:nvPr/>
        </p:nvPicPr>
        <p:blipFill>
          <a:blip r:embed="rId2"/>
          <a:stretch/>
        </p:blipFill>
        <p:spPr>
          <a:xfrm>
            <a:off x="6172200" y="1508760"/>
            <a:ext cx="5257440" cy="4205880"/>
          </a:xfrm>
          <a:prstGeom prst="rect">
            <a:avLst/>
          </a:prstGeom>
          <a:ln w="0">
            <a:noFill/>
          </a:ln>
        </p:spPr>
      </p:pic>
      <p:sp>
        <p:nvSpPr>
          <p:cNvPr id="197" name="TextBox 8"/>
          <p:cNvSpPr/>
          <p:nvPr/>
        </p:nvSpPr>
        <p:spPr>
          <a:xfrm>
            <a:off x="822960" y="553212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mBERT: FP=87, FN=99 → uravnotežena natančnost in priklic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822960" y="5943600"/>
            <a:ext cx="11274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▸  </a:t>
            </a:r>
            <a:r>
              <a:rPr b="0" lang="en-US" sz="1500" spc="-1" strike="noStrike">
                <a:solidFill>
                  <a:srgbClr val="374151"/>
                </a:solidFill>
                <a:latin typeface="Calibri"/>
              </a:rPr>
              <a:t>TinyBERT: FP=155, FN=282 → več spama se izgubi (nižji priklic)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640080" y="411480"/>
            <a:ext cx="1090836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822960" y="484560"/>
            <a:ext cx="1054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111827"/>
                </a:solidFill>
                <a:latin typeface="Calibri"/>
              </a:rPr>
              <a:t>Praktične implikacije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640080" y="1124640"/>
            <a:ext cx="10908360" cy="45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685800" y="1371600"/>
            <a:ext cx="531684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ectangle 5"/>
          <p:cNvSpPr/>
          <p:nvPr/>
        </p:nvSpPr>
        <p:spPr>
          <a:xfrm>
            <a:off x="685800" y="1371600"/>
            <a:ext cx="10944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850320" y="1444680"/>
            <a:ext cx="5097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mBERT (110M)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7"/>
          <p:cNvSpPr/>
          <p:nvPr/>
        </p:nvSpPr>
        <p:spPr>
          <a:xfrm>
            <a:off x="685800" y="196596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Idealen za splošno rabo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8"/>
          <p:cNvSpPr/>
          <p:nvPr/>
        </p:nvSpPr>
        <p:spPr>
          <a:xfrm>
            <a:off x="685800" y="251460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Visoka zmogljivost brez slov. podatkov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Box 9"/>
          <p:cNvSpPr/>
          <p:nvPr/>
        </p:nvSpPr>
        <p:spPr>
          <a:xfrm>
            <a:off x="685800" y="306324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Hitro uvajanje v novih jezikih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10"/>
          <p:cNvSpPr/>
          <p:nvPr/>
        </p:nvSpPr>
        <p:spPr>
          <a:xfrm>
            <a:off x="685800" y="361188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Zero-shot pristop pogosto zadošča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11"/>
          <p:cNvSpPr/>
          <p:nvPr/>
        </p:nvSpPr>
        <p:spPr>
          <a:xfrm>
            <a:off x="685800" y="416052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Few-shot prinese le minimalne spremembe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12"/>
          <p:cNvSpPr/>
          <p:nvPr/>
        </p:nvSpPr>
        <p:spPr>
          <a:xfrm>
            <a:off x="6185880" y="1371600"/>
            <a:ext cx="531684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Rectangle 13"/>
          <p:cNvSpPr/>
          <p:nvPr/>
        </p:nvSpPr>
        <p:spPr>
          <a:xfrm>
            <a:off x="6185880" y="1371600"/>
            <a:ext cx="10944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14"/>
          <p:cNvSpPr/>
          <p:nvPr/>
        </p:nvSpPr>
        <p:spPr>
          <a:xfrm>
            <a:off x="6350400" y="1444680"/>
            <a:ext cx="5097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11827"/>
                </a:solidFill>
                <a:latin typeface="Calibri"/>
              </a:rPr>
              <a:t>TinyBERT (15M)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15"/>
          <p:cNvSpPr/>
          <p:nvPr/>
        </p:nvSpPr>
        <p:spPr>
          <a:xfrm>
            <a:off x="6185880" y="196596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Primeren za mobilne naprave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16"/>
          <p:cNvSpPr/>
          <p:nvPr/>
        </p:nvSpPr>
        <p:spPr>
          <a:xfrm>
            <a:off x="6185880" y="251460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Lokalna obdelava – zasebnost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7"/>
          <p:cNvSpPr/>
          <p:nvPr/>
        </p:nvSpPr>
        <p:spPr>
          <a:xfrm>
            <a:off x="6185880" y="306324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Deluje brez internetne povezave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8"/>
          <p:cNvSpPr/>
          <p:nvPr/>
        </p:nvSpPr>
        <p:spPr>
          <a:xfrm>
            <a:off x="6185880" y="361188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Few-shot zahteva previdno validacijo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19"/>
          <p:cNvSpPr/>
          <p:nvPr/>
        </p:nvSpPr>
        <p:spPr>
          <a:xfrm>
            <a:off x="6185880" y="4160520"/>
            <a:ext cx="53168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d4ed8"/>
                </a:solidFill>
                <a:latin typeface="Calibri"/>
              </a:rPr>
              <a:t>▸  </a:t>
            </a:r>
            <a:r>
              <a:rPr b="0" lang="en-US" sz="1700" spc="-1" strike="noStrike">
                <a:solidFill>
                  <a:srgbClr val="374151"/>
                </a:solidFill>
                <a:latin typeface="Calibri"/>
              </a:rPr>
              <a:t>k≈50–100 je v našem testu najbolj stabilen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640080" y="594360"/>
            <a:ext cx="1090836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Rectangle 2"/>
          <p:cNvSpPr/>
          <p:nvPr/>
        </p:nvSpPr>
        <p:spPr>
          <a:xfrm>
            <a:off x="640080" y="1097280"/>
            <a:ext cx="10908360" cy="48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868680" y="1280160"/>
            <a:ext cx="104511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11827"/>
                </a:solidFill>
                <a:latin typeface="Calibri"/>
              </a:rPr>
              <a:t>Hvala za pozornost!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8"/>
          <p:cNvSpPr/>
          <p:nvPr/>
        </p:nvSpPr>
        <p:spPr>
          <a:xfrm>
            <a:off x="914400" y="2286000"/>
            <a:ext cx="49374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111827"/>
                </a:solidFill>
                <a:latin typeface="Calibri"/>
              </a:rPr>
              <a:t>Vprašanja?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9"/>
          <p:cNvSpPr/>
          <p:nvPr/>
        </p:nvSpPr>
        <p:spPr>
          <a:xfrm>
            <a:off x="914400" y="2057400"/>
            <a:ext cx="49374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74151"/>
                </a:solidFill>
                <a:latin typeface="Calibri"/>
              </a:rPr>
              <a:t>Koda in podatki: github.com/jez-teh/SV1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2026-05-27T20:45:14Z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